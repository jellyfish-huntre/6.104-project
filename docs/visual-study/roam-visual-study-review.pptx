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eb6789c01b47b2" /><Relationship Type="http://schemas.openxmlformats.org/officeDocument/2006/relationships/extended-properties" Target="/docProps/app.xml" Id="R1835247b77e94393" /><Relationship Type="http://schemas.openxmlformats.org/officeDocument/2006/relationships/officeDocument" Target="/ppt/presentation.xml" Id="R948b806e50ca4feb" /></Relationships>
</file>

<file path=ppt/presentation.xml><?xml version="1.0" encoding="utf-8"?>
<p:presentation xmlns:p="http://schemas.openxmlformats.org/presentationml/2006/main">
  <p:sldMasterIdLst>
    <p:sldMasterId xmlns:r="http://schemas.openxmlformats.org/officeDocument/2006/relationships" id="2147483648" r:id="R2bc802d3422c497c"/>
  </p:sldMasterIdLst>
  <p:notesMasterIdLst>
    <p:notesMasterId xmlns:r="http://schemas.openxmlformats.org/officeDocument/2006/relationships" r:id="R176d2414bca7434c"/>
  </p:notesMasterIdLst>
  <p:sldIdLst>
    <p:sldId xmlns:r="http://schemas.openxmlformats.org/officeDocument/2006/relationships" id="256" r:id="R46eca793cbbe4f32"/>
    <p:sldId xmlns:r="http://schemas.openxmlformats.org/officeDocument/2006/relationships" id="257" r:id="R50b97ea10b8542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b37f0bc27a40c8" /><Relationship Type="http://schemas.openxmlformats.org/officeDocument/2006/relationships/slideMaster" Target="/ppt/slideMasters/slideMaster1.xml" Id="R2bc802d3422c497c" /><Relationship Type="http://schemas.openxmlformats.org/officeDocument/2006/relationships/notesMaster" Target="/ppt/notesMasters/notesMaster1.xml" Id="R176d2414bca7434c" /><Relationship Type="http://schemas.openxmlformats.org/officeDocument/2006/relationships/presProps" Target="/ppt/presProps.xml" Id="Rf275b18ab4214855" /><Relationship Type="http://schemas.openxmlformats.org/officeDocument/2006/relationships/tableStyles" Target="/ppt/tableStyles.xml" Id="Rac58750aa7d54b16" /><Relationship Type="http://schemas.openxmlformats.org/officeDocument/2006/relationships/slide" Target="/ppt/slides/slide1.xml" Id="R46eca793cbbe4f32" /><Relationship Type="http://schemas.openxmlformats.org/officeDocument/2006/relationships/slide" Target="/ppt/slides/slide2.xml" Id="R50b97ea10b8542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6f9f0a472d4e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16498fb212408d" /><Relationship Type="http://schemas.openxmlformats.org/officeDocument/2006/relationships/notesMaster" Target="/ppt/notesMasters/notesMaster1.xml" Id="R203e2ba1611344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3d5dc907144d59" /><Relationship Type="http://schemas.openxmlformats.org/officeDocument/2006/relationships/notesMaster" Target="/ppt/notesMasters/notesMaster1.xml" Id="R419408ad6f2345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visual study. Sources: local Gimkit, Kahoot, and Blooket screenshots in docs/inspiration; https://fontsinuse.com/uses/80040/cotta-video-identity-and-landing-page ; https://fontsinuse.com/uses/80138/pavel-kedzich-portfolio-website ; https://fontsinuse.com/uses/80128/berlinale-2026 . Other saved typography references to consider in the next revision: https://fontsinuse.com/uses/78391/later and https://fontsinuse.com/uses/80139/overplay-card-game . The shared direction is an interpretation of the user's choices, not a claim that all references use the same font family. Decisions about which choices reach the app will be added after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visual study. Sources: local Gimkit and Kahoot screenshots plus two pixel-art images in docs/inspiration; https://fontsinuse.com/uses/80128/berlinale-2026 . Proposed palette is exploratory. It is not an assertion that these exact colors already appear in Roam. Later annotate which choices were used in the UI and why, including contrast and how queue and invitation states are distinguished with text as well as color.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bbf2bf245b4c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ff5b794f6549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a6c01fdcaf43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9b30b79f474e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7f2b6424ee44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e74e95e45f40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45FE22-4DD9-4564-A3EF-478DAC843E9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588E82-D948-4BFF-B5B7-BDE3D85460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738E7A-4258-4895-8814-E747967198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0FE918-400B-448D-BDD3-83736D6336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8EC213-99FE-49B7-B467-E514142329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4A5968-9255-4991-9A15-AB0B7FA81F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B187BA-711E-45F1-AF7B-B67A84B6F3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253B639-8D1C-4A27-9F3F-736C0C4B97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233373-B730-44EF-8448-127D8C1FF2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C98E4D-54AD-43DA-9385-8A68B27EA6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646bdddd9e420a" /><Relationship Type="http://schemas.openxmlformats.org/officeDocument/2006/relationships/slideLayout" Target="/ppt/slideLayouts/slideLayout1.xml" Id="Re4849c8653dc45ab" /><Relationship Type="http://schemas.openxmlformats.org/officeDocument/2006/relationships/slideLayout" Target="/ppt/slideLayouts/slideLayout2.xml" Id="R7b8a579fc4bc471d" /><Relationship Type="http://schemas.openxmlformats.org/officeDocument/2006/relationships/slideLayout" Target="/ppt/slideLayouts/slideLayout3.xml" Id="R56219956932545b7" /><Relationship Type="http://schemas.openxmlformats.org/officeDocument/2006/relationships/slideLayout" Target="/ppt/slideLayouts/slideLayout4.xml" Id="R15b160513bfc4f97" /><Relationship Type="http://schemas.openxmlformats.org/officeDocument/2006/relationships/slideLayout" Target="/ppt/slideLayouts/slideLayout5.xml" Id="Rab10e2412c8a44a3" /><Relationship Type="http://schemas.openxmlformats.org/officeDocument/2006/relationships/slideLayout" Target="/ppt/slideLayouts/slideLayout6.xml" Id="Rfd1d41d2b47649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849c8653dc45ab"/>
    <p:sldLayoutId xmlns:r="http://schemas.openxmlformats.org/officeDocument/2006/relationships" id="2147483650" r:id="R7b8a579fc4bc471d"/>
    <p:sldLayoutId xmlns:r="http://schemas.openxmlformats.org/officeDocument/2006/relationships" id="2147483651" r:id="R56219956932545b7"/>
    <p:sldLayoutId xmlns:r="http://schemas.openxmlformats.org/officeDocument/2006/relationships" id="2147483652" r:id="R15b160513bfc4f97"/>
    <p:sldLayoutId xmlns:r="http://schemas.openxmlformats.org/officeDocument/2006/relationships" id="2147483653" r:id="Rab10e2412c8a44a3"/>
    <p:sldLayoutId xmlns:r="http://schemas.openxmlformats.org/officeDocument/2006/relationships" id="2147483654" r:id="Rfd1d41d2b47649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d965922eff4fc4" /><Relationship Type="http://schemas.openxmlformats.org/officeDocument/2006/relationships/image" Target="/ppt/media/image.png" Id="R127326928e0748b8" /><Relationship Type="http://schemas.openxmlformats.org/officeDocument/2006/relationships/image" Target="/ppt/media/image2.png" Id="Rebdafd50565841b5" /><Relationship Type="http://schemas.openxmlformats.org/officeDocument/2006/relationships/image" Target="/ppt/media/image3.png" Id="Rca324d7b134b4adc" /><Relationship Type="http://schemas.openxmlformats.org/officeDocument/2006/relationships/image" Target="/ppt/media/image4.png" Id="R958f53d538394cde" /><Relationship Type="http://schemas.openxmlformats.org/officeDocument/2006/relationships/image" Target="/ppt/media/image5.png" Id="R658df993c6a34bda" /><Relationship Type="http://schemas.openxmlformats.org/officeDocument/2006/relationships/image" Target="/ppt/media/image.jpeg" Id="R6d716422bb724507" /><Relationship Type="http://schemas.openxmlformats.org/officeDocument/2006/relationships/notesSlide" Target="/ppt/notesSlides/notesSlide1.xml" Id="R19717be468cf4d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3bd5e3bd2c483f" /><Relationship Type="http://schemas.openxmlformats.org/officeDocument/2006/relationships/image" Target="/ppt/media/image6.png" Id="R282c0df663984fb0" /><Relationship Type="http://schemas.openxmlformats.org/officeDocument/2006/relationships/image" Target="/ppt/media/image7.png" Id="Re51abf0bdfca40ac" /><Relationship Type="http://schemas.openxmlformats.org/officeDocument/2006/relationships/image" Target="/ppt/media/image8.png" Id="Rccf437bdf04d4ebe" /><Relationship Type="http://schemas.openxmlformats.org/officeDocument/2006/relationships/image" Target="/ppt/media/image9.png" Id="R45e0c06f8f1c45ba" /><Relationship Type="http://schemas.openxmlformats.org/officeDocument/2006/relationships/image" Target="/ppt/media/image2.jpeg" Id="R3bf2d497ca8d4f4e" /><Relationship Type="http://schemas.openxmlformats.org/officeDocument/2006/relationships/notesSlide" Target="/ppt/notesSlides/notesSlide2.xml" Id="R9ae2550d99384548"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107233A-508C-44D4-8C15-53BC1C989DA5}"/>
              </a:ext>
            </a:extLst>
          </p:cNvPr>
          <p:cNvSpPr>
            <a:spLocks xmlns:a="http://schemas.openxmlformats.org/drawingml/2006/main" noGrp="1"/>
          </p:cNvSpPr>
          <p:nvPr/>
        </p:nvSpPr>
        <p:spPr>
          <a:xfrm xmlns:a="http://schemas.openxmlformats.org/drawingml/2006/main">
            <a:off x="457200" y="28575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925" b="1">
                <a:solidFill>
                  <a:srgbClr val="182341"/>
                </a:solidFill>
                <a:latin typeface="Avenir Next"/>
                <a:ea typeface="Avenir Next"/>
                <a:cs typeface="Avenir Next"/>
              </a:defRPr>
            </a:defPPr>
            <a:lvl1pPr>
              <a:defRPr sz="2925" b="1">
                <a:solidFill>
                  <a:srgbClr val="182341"/>
                </a:solidFill>
                <a:latin typeface="Avenir Next"/>
                <a:ea typeface="Avenir Next"/>
                <a:cs typeface="Avenir Next"/>
              </a:defRPr>
            </a:lvl1pPr>
            <a:lvl2pPr>
              <a:defRPr sz="2925" b="1">
                <a:solidFill>
                  <a:srgbClr val="182341"/>
                </a:solidFill>
                <a:latin typeface="Avenir Next"/>
                <a:ea typeface="Avenir Next"/>
                <a:cs typeface="Avenir Next"/>
              </a:defRPr>
            </a:lvl2pPr>
            <a:lvl3pPr>
              <a:defRPr sz="2925" b="1">
                <a:solidFill>
                  <a:srgbClr val="182341"/>
                </a:solidFill>
                <a:latin typeface="Avenir Next"/>
                <a:ea typeface="Avenir Next"/>
                <a:cs typeface="Avenir Next"/>
              </a:defRPr>
            </a:lvl3pPr>
            <a:lvl4pPr>
              <a:defRPr sz="2925" b="1">
                <a:solidFill>
                  <a:srgbClr val="182341"/>
                </a:solidFill>
                <a:latin typeface="Avenir Next"/>
                <a:ea typeface="Avenir Next"/>
                <a:cs typeface="Avenir Next"/>
              </a:defRPr>
            </a:lvl4pPr>
            <a:lvl5pPr>
              <a:defRPr sz="2925" b="1">
                <a:solidFill>
                  <a:srgbClr val="182341"/>
                </a:solidFill>
                <a:latin typeface="Avenir Next"/>
                <a:ea typeface="Avenir Next"/>
                <a:cs typeface="Avenir Next"/>
              </a:defRPr>
            </a:lvl5pPr>
            <a:lvl6pPr>
              <a:defRPr sz="2925" b="1">
                <a:solidFill>
                  <a:srgbClr val="182341"/>
                </a:solidFill>
                <a:latin typeface="Avenir Next"/>
                <a:ea typeface="Avenir Next"/>
                <a:cs typeface="Avenir Next"/>
              </a:defRPr>
            </a:lvl6pPr>
            <a:lvl7pPr>
              <a:defRPr sz="2925" b="1">
                <a:solidFill>
                  <a:srgbClr val="182341"/>
                </a:solidFill>
                <a:latin typeface="Avenir Next"/>
                <a:ea typeface="Avenir Next"/>
                <a:cs typeface="Avenir Next"/>
              </a:defRPr>
            </a:lvl7pPr>
            <a:lvl8pPr>
              <a:defRPr sz="2925" b="1">
                <a:solidFill>
                  <a:srgbClr val="182341"/>
                </a:solidFill>
                <a:latin typeface="Avenir Next"/>
                <a:ea typeface="Avenir Next"/>
                <a:cs typeface="Avenir Next"/>
              </a:defRPr>
            </a:lvl8pPr>
            <a:lvl9pPr>
              <a:defRPr sz="2925" b="1">
                <a:solidFill>
                  <a:srgbClr val="182341"/>
                </a:solidFill>
                <a:latin typeface="Avenir Next"/>
                <a:ea typeface="Avenir Next"/>
                <a:cs typeface="Avenir Next"/>
              </a:defRPr>
            </a:lvl9pPr>
          </a:lstStyle>
          <a:p xmlns:a="http://schemas.openxmlformats.org/drawingml/2006/main">
            <a:pPr>
              <a:buNone/>
              <a:defRPr sz="2925" b="1">
                <a:solidFill>
                  <a:srgbClr val="182341"/>
                </a:solidFill>
                <a:latin typeface="Avenir Next"/>
                <a:ea typeface="Avenir Next"/>
                <a:cs typeface="Avenir Next"/>
              </a:defRPr>
            </a:pPr>
            <a:r>
              <a:rPr sz="2925" b="1">
                <a:solidFill>
                  <a:srgbClr val="182341"/>
                </a:solidFill>
                <a:latin typeface="Avenir Next"/>
                <a:ea typeface="Avenir Next"/>
                <a:cs typeface="Avenir Next"/>
              </a:rPr>
              <a:t>TYPOGRAPHY</a:t>
            </a:r>
          </a:p>
        </p:txBody>
      </p:sp>
      <p:sp>
        <p:nvSpPr>
          <p:cNvPr id="2" name="">
            <a:extLst xmlns:a="http://schemas.openxmlformats.org/drawingml/2006/main">
              <a:ext uri="{FF2B5EF4-FFF2-40B4-BE49-F238E27FC236}">
                <a16:creationId xmlns:a16="http://schemas.microsoft.com/office/drawing/2014/main" id="{C29F0CBE-990C-4D9E-996C-57D3CBE01C77}"/>
              </a:ext>
            </a:extLst>
          </p:cNvPr>
          <p:cNvSpPr>
            <a:spLocks xmlns:a="http://schemas.openxmlformats.org/drawingml/2006/main" noGrp="1"/>
          </p:cNvSpPr>
          <p:nvPr/>
        </p:nvSpPr>
        <p:spPr>
          <a:xfrm xmlns:a="http://schemas.openxmlformats.org/drawingml/2006/main">
            <a:off x="466725" y="80962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4F5B72"/>
                </a:solidFill>
                <a:latin typeface="Avenir Next"/>
                <a:ea typeface="Avenir Next"/>
                <a:cs typeface="Avenir Next"/>
              </a:defRPr>
            </a:defPPr>
            <a:lvl1pPr>
              <a:defRPr sz="1500" b="0">
                <a:solidFill>
                  <a:srgbClr val="4F5B72"/>
                </a:solidFill>
                <a:latin typeface="Avenir Next"/>
                <a:ea typeface="Avenir Next"/>
                <a:cs typeface="Avenir Next"/>
              </a:defRPr>
            </a:lvl1pPr>
            <a:lvl2pPr>
              <a:defRPr sz="1500" b="0">
                <a:solidFill>
                  <a:srgbClr val="4F5B72"/>
                </a:solidFill>
                <a:latin typeface="Avenir Next"/>
                <a:ea typeface="Avenir Next"/>
                <a:cs typeface="Avenir Next"/>
              </a:defRPr>
            </a:lvl2pPr>
            <a:lvl3pPr>
              <a:defRPr sz="1500" b="0">
                <a:solidFill>
                  <a:srgbClr val="4F5B72"/>
                </a:solidFill>
                <a:latin typeface="Avenir Next"/>
                <a:ea typeface="Avenir Next"/>
                <a:cs typeface="Avenir Next"/>
              </a:defRPr>
            </a:lvl3pPr>
            <a:lvl4pPr>
              <a:defRPr sz="1500" b="0">
                <a:solidFill>
                  <a:srgbClr val="4F5B72"/>
                </a:solidFill>
                <a:latin typeface="Avenir Next"/>
                <a:ea typeface="Avenir Next"/>
                <a:cs typeface="Avenir Next"/>
              </a:defRPr>
            </a:lvl4pPr>
            <a:lvl5pPr>
              <a:defRPr sz="1500" b="0">
                <a:solidFill>
                  <a:srgbClr val="4F5B72"/>
                </a:solidFill>
                <a:latin typeface="Avenir Next"/>
                <a:ea typeface="Avenir Next"/>
                <a:cs typeface="Avenir Next"/>
              </a:defRPr>
            </a:lvl5pPr>
            <a:lvl6pPr>
              <a:defRPr sz="1500" b="0">
                <a:solidFill>
                  <a:srgbClr val="4F5B72"/>
                </a:solidFill>
                <a:latin typeface="Avenir Next"/>
                <a:ea typeface="Avenir Next"/>
                <a:cs typeface="Avenir Next"/>
              </a:defRPr>
            </a:lvl6pPr>
            <a:lvl7pPr>
              <a:defRPr sz="1500" b="0">
                <a:solidFill>
                  <a:srgbClr val="4F5B72"/>
                </a:solidFill>
                <a:latin typeface="Avenir Next"/>
                <a:ea typeface="Avenir Next"/>
                <a:cs typeface="Avenir Next"/>
              </a:defRPr>
            </a:lvl7pPr>
            <a:lvl8pPr>
              <a:defRPr sz="1500" b="0">
                <a:solidFill>
                  <a:srgbClr val="4F5B72"/>
                </a:solidFill>
                <a:latin typeface="Avenir Next"/>
                <a:ea typeface="Avenir Next"/>
                <a:cs typeface="Avenir Next"/>
              </a:defRPr>
            </a:lvl8pPr>
            <a:lvl9pPr>
              <a:defRPr sz="1500" b="0">
                <a:solidFill>
                  <a:srgbClr val="4F5B72"/>
                </a:solidFill>
                <a:latin typeface="Avenir Next"/>
                <a:ea typeface="Avenir Next"/>
                <a:cs typeface="Avenir Next"/>
              </a:defRPr>
            </a:lvl9pPr>
          </a:lstStyle>
          <a:p xmlns:a="http://schemas.openxmlformats.org/drawingml/2006/main">
            <a:pPr>
              <a:buNone/>
              <a:defRPr sz="1500" b="0">
                <a:solidFill>
                  <a:srgbClr val="4F5B72"/>
                </a:solidFill>
                <a:latin typeface="Avenir Next"/>
                <a:ea typeface="Avenir Next"/>
                <a:cs typeface="Avenir Next"/>
              </a:defRPr>
            </a:pPr>
            <a:r>
              <a:rPr sz="1500" b="0">
                <a:solidFill>
                  <a:srgbClr val="4F5B72"/>
                </a:solidFill>
                <a:latin typeface="Avenir Next"/>
                <a:ea typeface="Avenir Next"/>
                <a:cs typeface="Avenir Next"/>
              </a:rPr>
              <a:t>Clear next actions with a playful voice</a:t>
            </a:r>
          </a:p>
        </p:txBody>
      </p:sp>
      <p:sp>
        <p:nvSpPr>
          <p:cNvPr id="3" name="">
            <a:extLst xmlns:a="http://schemas.openxmlformats.org/drawingml/2006/main">
              <a:ext uri="{FF2B5EF4-FFF2-40B4-BE49-F238E27FC236}">
                <a16:creationId xmlns:a16="http://schemas.microsoft.com/office/drawing/2014/main" id="{4A20DA5A-357D-4E21-8B61-1006292DC566}"/>
              </a:ext>
            </a:extLst>
          </p:cNvPr>
          <p:cNvSpPr>
            <a:spLocks xmlns:a="http://schemas.openxmlformats.org/drawingml/2006/main" noGrp="1"/>
          </p:cNvSpPr>
          <p:nvPr/>
        </p:nvSpPr>
        <p:spPr>
          <a:xfrm xmlns:a="http://schemas.openxmlformats.org/drawingml/2006/main">
            <a:off x="457200" y="1123950"/>
            <a:ext cx="11277600" cy="19050"/>
          </a:xfrm>
          <a:prstGeom xmlns:a="http://schemas.openxmlformats.org/drawingml/2006/main" prst="rect">
            <a:avLst/>
          </a:prstGeom>
          <a:solidFill xmlns:a="http://schemas.openxmlformats.org/drawingml/2006/main">
            <a:srgbClr val="BAC3D0"/>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6D161C59-DC13-4FAD-A7F3-B01308C66806}"/>
              </a:ext>
            </a:extLst>
          </p:cNvPr>
          <p:cNvPicPr>
            <a:picLocks xmlns:a="http://schemas.openxmlformats.org/drawingml/2006/main" noChangeAspect="1"/>
          </p:cNvPicPr>
          <p:nvPr/>
        </p:nvPicPr>
        <p:blipFill>
          <a:blip xmlns:r="http://schemas.openxmlformats.org/officeDocument/2006/relationships" xmlns:a="http://schemas.openxmlformats.org/drawingml/2006/main" r:embed="R127326928e0748b8"/>
          <a:srcRect xmlns:a="http://schemas.openxmlformats.org/drawingml/2006/main" l="8025" t="0" r="8025" b="0"/>
          <a:stretch xmlns:a="http://schemas.openxmlformats.org/drawingml/2006/main">
            <a:fillRect l="0" t="0" r="0" b="0"/>
          </a:stretch>
        </p:blipFill>
        <p:spPr>
          <a:xfrm xmlns:a="http://schemas.openxmlformats.org/drawingml/2006/main">
            <a:off x="457200" y="1314450"/>
            <a:ext cx="1981200" cy="20764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862A633-7DB8-45C5-9B64-7E7D14936C79}"/>
              </a:ext>
            </a:extLst>
          </p:cNvPr>
          <p:cNvPicPr>
            <a:picLocks xmlns:a="http://schemas.openxmlformats.org/drawingml/2006/main" noChangeAspect="1"/>
          </p:cNvPicPr>
          <p:nvPr/>
        </p:nvPicPr>
        <p:blipFill>
          <a:blip xmlns:r="http://schemas.openxmlformats.org/officeDocument/2006/relationships" xmlns:a="http://schemas.openxmlformats.org/drawingml/2006/main" r:embed="Rebdafd50565841b5"/>
          <a:srcRect xmlns:a="http://schemas.openxmlformats.org/drawingml/2006/main" l="13797" t="0" r="13797" b="0"/>
          <a:stretch xmlns:a="http://schemas.openxmlformats.org/drawingml/2006/main">
            <a:fillRect l="0" t="0" r="0" b="0"/>
          </a:stretch>
        </p:blipFill>
        <p:spPr>
          <a:xfrm xmlns:a="http://schemas.openxmlformats.org/drawingml/2006/main">
            <a:off x="2552700" y="1314450"/>
            <a:ext cx="1981200" cy="20764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6135F54-17DC-4C8B-A31F-954F8EE47686}"/>
              </a:ext>
            </a:extLst>
          </p:cNvPr>
          <p:cNvPicPr>
            <a:picLocks xmlns:a="http://schemas.openxmlformats.org/drawingml/2006/main" noChangeAspect="1"/>
          </p:cNvPicPr>
          <p:nvPr/>
        </p:nvPicPr>
        <p:blipFill>
          <a:blip xmlns:r="http://schemas.openxmlformats.org/officeDocument/2006/relationships" xmlns:a="http://schemas.openxmlformats.org/drawingml/2006/main" r:embed="Rca324d7b134b4adc"/>
          <a:srcRect xmlns:a="http://schemas.openxmlformats.org/drawingml/2006/main" l="10047" t="0" r="10047" b="0"/>
          <a:stretch xmlns:a="http://schemas.openxmlformats.org/drawingml/2006/main">
            <a:fillRect l="0" t="0" r="0" b="0"/>
          </a:stretch>
        </p:blipFill>
        <p:spPr>
          <a:xfrm xmlns:a="http://schemas.openxmlformats.org/drawingml/2006/main">
            <a:off x="4648200" y="1314450"/>
            <a:ext cx="1981200" cy="20764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5DEB69C-F887-4F7C-BCAE-187E3ED9DA42}"/>
              </a:ext>
            </a:extLst>
          </p:cNvPr>
          <p:cNvPicPr>
            <a:picLocks xmlns:a="http://schemas.openxmlformats.org/drawingml/2006/main" noChangeAspect="1"/>
          </p:cNvPicPr>
          <p:nvPr/>
        </p:nvPicPr>
        <p:blipFill>
          <a:blip xmlns:r="http://schemas.openxmlformats.org/officeDocument/2006/relationships" xmlns:a="http://schemas.openxmlformats.org/drawingml/2006/main" r:embed="R958f53d538394cde"/>
          <a:stretch xmlns:a="http://schemas.openxmlformats.org/drawingml/2006/main"/>
        </p:blipFill>
        <p:spPr>
          <a:xfrm xmlns:a="http://schemas.openxmlformats.org/drawingml/2006/main">
            <a:off x="6743700" y="1624717"/>
            <a:ext cx="2095500" cy="145591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5BE3AED-F250-4CA2-9DBC-17B66C09F6B4}"/>
              </a:ext>
            </a:extLst>
          </p:cNvPr>
          <p:cNvSpPr>
            <a:spLocks xmlns:a="http://schemas.openxmlformats.org/drawingml/2006/main" noGrp="1"/>
          </p:cNvSpPr>
          <p:nvPr/>
        </p:nvSpPr>
        <p:spPr>
          <a:xfrm xmlns:a="http://schemas.openxmlformats.org/drawingml/2006/main">
            <a:off x="457200" y="34290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1  Gimkit</a:t>
            </a:r>
          </a:p>
        </p:txBody>
      </p:sp>
      <p:sp>
        <p:nvSpPr>
          <p:cNvPr id="9" name="">
            <a:extLst xmlns:a="http://schemas.openxmlformats.org/drawingml/2006/main">
              <a:ext uri="{FF2B5EF4-FFF2-40B4-BE49-F238E27FC236}">
                <a16:creationId xmlns:a16="http://schemas.microsoft.com/office/drawing/2014/main" id="{DDA4DABE-6D04-4FC6-851F-6BE5DC8BD723}"/>
              </a:ext>
            </a:extLst>
          </p:cNvPr>
          <p:cNvSpPr>
            <a:spLocks xmlns:a="http://schemas.openxmlformats.org/drawingml/2006/main" noGrp="1"/>
          </p:cNvSpPr>
          <p:nvPr/>
        </p:nvSpPr>
        <p:spPr>
          <a:xfrm xmlns:a="http://schemas.openxmlformats.org/drawingml/2006/main">
            <a:off x="2552700" y="34290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2  Kahoot</a:t>
            </a:r>
          </a:p>
        </p:txBody>
      </p:sp>
      <p:sp>
        <p:nvSpPr>
          <p:cNvPr id="10" name="">
            <a:extLst xmlns:a="http://schemas.openxmlformats.org/drawingml/2006/main">
              <a:ext uri="{FF2B5EF4-FFF2-40B4-BE49-F238E27FC236}">
                <a16:creationId xmlns:a16="http://schemas.microsoft.com/office/drawing/2014/main" id="{7EE931EA-C33F-4C88-85E9-B8CD53DA2D90}"/>
              </a:ext>
            </a:extLst>
          </p:cNvPr>
          <p:cNvSpPr>
            <a:spLocks xmlns:a="http://schemas.openxmlformats.org/drawingml/2006/main" noGrp="1"/>
          </p:cNvSpPr>
          <p:nvPr/>
        </p:nvSpPr>
        <p:spPr>
          <a:xfrm xmlns:a="http://schemas.openxmlformats.org/drawingml/2006/main">
            <a:off x="4648200" y="34290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3  Blooket</a:t>
            </a:r>
          </a:p>
        </p:txBody>
      </p:sp>
      <p:sp>
        <p:nvSpPr>
          <p:cNvPr id="11" name="">
            <a:extLst xmlns:a="http://schemas.openxmlformats.org/drawingml/2006/main">
              <a:ext uri="{FF2B5EF4-FFF2-40B4-BE49-F238E27FC236}">
                <a16:creationId xmlns:a16="http://schemas.microsoft.com/office/drawing/2014/main" id="{5452BF83-3836-4BF7-8230-421BA3314FD9}"/>
              </a:ext>
            </a:extLst>
          </p:cNvPr>
          <p:cNvSpPr>
            <a:spLocks xmlns:a="http://schemas.openxmlformats.org/drawingml/2006/main" noGrp="1"/>
          </p:cNvSpPr>
          <p:nvPr/>
        </p:nvSpPr>
        <p:spPr>
          <a:xfrm xmlns:a="http://schemas.openxmlformats.org/drawingml/2006/main">
            <a:off x="6743700" y="34290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4  Cotta</a:t>
            </a:r>
          </a:p>
        </p:txBody>
      </p:sp>
      <p:pic>
        <p:nvPicPr>
          <p:cNvPr id="12" name="">
            <a:extLst xmlns:a="http://schemas.openxmlformats.org/drawingml/2006/main">
              <a:ext uri="{FF2B5EF4-FFF2-40B4-BE49-F238E27FC236}">
                <a16:creationId xmlns:a16="http://schemas.microsoft.com/office/drawing/2014/main" id="{B202E87C-9F9F-42CF-8788-625914651A29}"/>
              </a:ext>
            </a:extLst>
          </p:cNvPr>
          <p:cNvPicPr>
            <a:picLocks xmlns:a="http://schemas.openxmlformats.org/drawingml/2006/main" noChangeAspect="1"/>
          </p:cNvPicPr>
          <p:nvPr/>
        </p:nvPicPr>
        <p:blipFill>
          <a:blip xmlns:r="http://schemas.openxmlformats.org/officeDocument/2006/relationships" xmlns:a="http://schemas.openxmlformats.org/drawingml/2006/main" r:embed="R658df993c6a34bda"/>
          <a:srcRect xmlns:a="http://schemas.openxmlformats.org/drawingml/2006/main" l="0" t="6903" r="0" b="6903"/>
          <a:stretch xmlns:a="http://schemas.openxmlformats.org/drawingml/2006/main">
            <a:fillRect l="0" t="0" r="0" b="0"/>
          </a:stretch>
        </p:blipFill>
        <p:spPr>
          <a:xfrm xmlns:a="http://schemas.openxmlformats.org/drawingml/2006/main">
            <a:off x="457200" y="3790950"/>
            <a:ext cx="4095750" cy="209550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AECB3C6E-0838-47E8-8951-429BA1A09B3A}"/>
              </a:ext>
            </a:extLst>
          </p:cNvPr>
          <p:cNvPicPr>
            <a:picLocks xmlns:a="http://schemas.openxmlformats.org/drawingml/2006/main" noChangeAspect="1"/>
          </p:cNvPicPr>
          <p:nvPr/>
        </p:nvPicPr>
        <p:blipFill>
          <a:blip xmlns:r="http://schemas.openxmlformats.org/officeDocument/2006/relationships" xmlns:a="http://schemas.openxmlformats.org/drawingml/2006/main" r:embed="R6d716422bb724507"/>
          <a:srcRect xmlns:a="http://schemas.openxmlformats.org/drawingml/2006/main" l="0" t="8073" r="0" b="8073"/>
          <a:stretch xmlns:a="http://schemas.openxmlformats.org/drawingml/2006/main">
            <a:fillRect l="0" t="0" r="0" b="0"/>
          </a:stretch>
        </p:blipFill>
        <p:spPr>
          <a:xfrm xmlns:a="http://schemas.openxmlformats.org/drawingml/2006/main">
            <a:off x="4667250" y="3790950"/>
            <a:ext cx="4171950" cy="20955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DE55756-AAC3-4CF9-B317-3537AB940E87}"/>
              </a:ext>
            </a:extLst>
          </p:cNvPr>
          <p:cNvSpPr>
            <a:spLocks xmlns:a="http://schemas.openxmlformats.org/drawingml/2006/main" noGrp="1"/>
          </p:cNvSpPr>
          <p:nvPr/>
        </p:nvSpPr>
        <p:spPr>
          <a:xfrm xmlns:a="http://schemas.openxmlformats.org/drawingml/2006/main">
            <a:off x="457200" y="59340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5  Pavel Kedzich</a:t>
            </a:r>
          </a:p>
        </p:txBody>
      </p:sp>
      <p:sp>
        <p:nvSpPr>
          <p:cNvPr id="15" name="">
            <a:extLst xmlns:a="http://schemas.openxmlformats.org/drawingml/2006/main">
              <a:ext uri="{FF2B5EF4-FFF2-40B4-BE49-F238E27FC236}">
                <a16:creationId xmlns:a16="http://schemas.microsoft.com/office/drawing/2014/main" id="{C1DBBA25-F2B5-4027-A5CA-0B1DDC0C1596}"/>
              </a:ext>
            </a:extLst>
          </p:cNvPr>
          <p:cNvSpPr>
            <a:spLocks xmlns:a="http://schemas.openxmlformats.org/drawingml/2006/main" noGrp="1"/>
          </p:cNvSpPr>
          <p:nvPr/>
        </p:nvSpPr>
        <p:spPr>
          <a:xfrm xmlns:a="http://schemas.openxmlformats.org/drawingml/2006/main">
            <a:off x="4667250" y="5934075"/>
            <a:ext cx="417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35425C"/>
                </a:solidFill>
                <a:latin typeface="Avenir Next"/>
                <a:ea typeface="Avenir Next"/>
                <a:cs typeface="Avenir Next"/>
              </a:defRPr>
            </a:defPPr>
            <a:lvl1pPr>
              <a:defRPr sz="975" b="1">
                <a:solidFill>
                  <a:srgbClr val="35425C"/>
                </a:solidFill>
                <a:latin typeface="Avenir Next"/>
                <a:ea typeface="Avenir Next"/>
                <a:cs typeface="Avenir Next"/>
              </a:defRPr>
            </a:lvl1pPr>
            <a:lvl2pPr>
              <a:defRPr sz="975" b="1">
                <a:solidFill>
                  <a:srgbClr val="35425C"/>
                </a:solidFill>
                <a:latin typeface="Avenir Next"/>
                <a:ea typeface="Avenir Next"/>
                <a:cs typeface="Avenir Next"/>
              </a:defRPr>
            </a:lvl2pPr>
            <a:lvl3pPr>
              <a:defRPr sz="975" b="1">
                <a:solidFill>
                  <a:srgbClr val="35425C"/>
                </a:solidFill>
                <a:latin typeface="Avenir Next"/>
                <a:ea typeface="Avenir Next"/>
                <a:cs typeface="Avenir Next"/>
              </a:defRPr>
            </a:lvl3pPr>
            <a:lvl4pPr>
              <a:defRPr sz="975" b="1">
                <a:solidFill>
                  <a:srgbClr val="35425C"/>
                </a:solidFill>
                <a:latin typeface="Avenir Next"/>
                <a:ea typeface="Avenir Next"/>
                <a:cs typeface="Avenir Next"/>
              </a:defRPr>
            </a:lvl4pPr>
            <a:lvl5pPr>
              <a:defRPr sz="975" b="1">
                <a:solidFill>
                  <a:srgbClr val="35425C"/>
                </a:solidFill>
                <a:latin typeface="Avenir Next"/>
                <a:ea typeface="Avenir Next"/>
                <a:cs typeface="Avenir Next"/>
              </a:defRPr>
            </a:lvl5pPr>
            <a:lvl6pPr>
              <a:defRPr sz="975" b="1">
                <a:solidFill>
                  <a:srgbClr val="35425C"/>
                </a:solidFill>
                <a:latin typeface="Avenir Next"/>
                <a:ea typeface="Avenir Next"/>
                <a:cs typeface="Avenir Next"/>
              </a:defRPr>
            </a:lvl6pPr>
            <a:lvl7pPr>
              <a:defRPr sz="975" b="1">
                <a:solidFill>
                  <a:srgbClr val="35425C"/>
                </a:solidFill>
                <a:latin typeface="Avenir Next"/>
                <a:ea typeface="Avenir Next"/>
                <a:cs typeface="Avenir Next"/>
              </a:defRPr>
            </a:lvl7pPr>
            <a:lvl8pPr>
              <a:defRPr sz="975" b="1">
                <a:solidFill>
                  <a:srgbClr val="35425C"/>
                </a:solidFill>
                <a:latin typeface="Avenir Next"/>
                <a:ea typeface="Avenir Next"/>
                <a:cs typeface="Avenir Next"/>
              </a:defRPr>
            </a:lvl8pPr>
            <a:lvl9pPr>
              <a:defRPr sz="975" b="1">
                <a:solidFill>
                  <a:srgbClr val="35425C"/>
                </a:solidFill>
                <a:latin typeface="Avenir Next"/>
                <a:ea typeface="Avenir Next"/>
                <a:cs typeface="Avenir Next"/>
              </a:defRPr>
            </a:lvl9pPr>
          </a:lstStyle>
          <a:p xmlns:a="http://schemas.openxmlformats.org/drawingml/2006/main">
            <a:pPr>
              <a:buNone/>
              <a:defRPr sz="975" b="1">
                <a:solidFill>
                  <a:srgbClr val="35425C"/>
                </a:solidFill>
                <a:latin typeface="Avenir Next"/>
                <a:ea typeface="Avenir Next"/>
                <a:cs typeface="Avenir Next"/>
              </a:defRPr>
            </a:pPr>
            <a:r>
              <a:rPr sz="975" b="1">
                <a:solidFill>
                  <a:srgbClr val="35425C"/>
                </a:solidFill>
                <a:latin typeface="Avenir Next"/>
                <a:ea typeface="Avenir Next"/>
                <a:cs typeface="Avenir Next"/>
              </a:rPr>
              <a:t>6  Berlinale 2026</a:t>
            </a:r>
          </a:p>
        </p:txBody>
      </p:sp>
      <p:sp>
        <p:nvSpPr>
          <p:cNvPr id="16" name="">
            <a:extLst xmlns:a="http://schemas.openxmlformats.org/drawingml/2006/main">
              <a:ext uri="{FF2B5EF4-FFF2-40B4-BE49-F238E27FC236}">
                <a16:creationId xmlns:a16="http://schemas.microsoft.com/office/drawing/2014/main" id="{80A1F417-BC9B-403E-BE73-13506628608B}"/>
              </a:ext>
            </a:extLst>
          </p:cNvPr>
          <p:cNvSpPr>
            <a:spLocks xmlns:a="http://schemas.openxmlformats.org/drawingml/2006/main" noGrp="1"/>
          </p:cNvSpPr>
          <p:nvPr/>
        </p:nvSpPr>
        <p:spPr>
          <a:xfrm xmlns:a="http://schemas.openxmlformats.org/drawingml/2006/main">
            <a:off x="9248775" y="1314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182341"/>
                </a:solidFill>
                <a:latin typeface="Avenir Next"/>
                <a:ea typeface="Avenir Next"/>
                <a:cs typeface="Avenir Next"/>
              </a:defRPr>
            </a:defPPr>
            <a:lvl1pPr>
              <a:defRPr sz="1275" b="1">
                <a:solidFill>
                  <a:srgbClr val="182341"/>
                </a:solidFill>
                <a:latin typeface="Avenir Next"/>
                <a:ea typeface="Avenir Next"/>
                <a:cs typeface="Avenir Next"/>
              </a:defRPr>
            </a:lvl1pPr>
            <a:lvl2pPr>
              <a:defRPr sz="1275" b="1">
                <a:solidFill>
                  <a:srgbClr val="182341"/>
                </a:solidFill>
                <a:latin typeface="Avenir Next"/>
                <a:ea typeface="Avenir Next"/>
                <a:cs typeface="Avenir Next"/>
              </a:defRPr>
            </a:lvl2pPr>
            <a:lvl3pPr>
              <a:defRPr sz="1275" b="1">
                <a:solidFill>
                  <a:srgbClr val="182341"/>
                </a:solidFill>
                <a:latin typeface="Avenir Next"/>
                <a:ea typeface="Avenir Next"/>
                <a:cs typeface="Avenir Next"/>
              </a:defRPr>
            </a:lvl3pPr>
            <a:lvl4pPr>
              <a:defRPr sz="1275" b="1">
                <a:solidFill>
                  <a:srgbClr val="182341"/>
                </a:solidFill>
                <a:latin typeface="Avenir Next"/>
                <a:ea typeface="Avenir Next"/>
                <a:cs typeface="Avenir Next"/>
              </a:defRPr>
            </a:lvl4pPr>
            <a:lvl5pPr>
              <a:defRPr sz="1275" b="1">
                <a:solidFill>
                  <a:srgbClr val="182341"/>
                </a:solidFill>
                <a:latin typeface="Avenir Next"/>
                <a:ea typeface="Avenir Next"/>
                <a:cs typeface="Avenir Next"/>
              </a:defRPr>
            </a:lvl5pPr>
            <a:lvl6pPr>
              <a:defRPr sz="1275" b="1">
                <a:solidFill>
                  <a:srgbClr val="182341"/>
                </a:solidFill>
                <a:latin typeface="Avenir Next"/>
                <a:ea typeface="Avenir Next"/>
                <a:cs typeface="Avenir Next"/>
              </a:defRPr>
            </a:lvl6pPr>
            <a:lvl7pPr>
              <a:defRPr sz="1275" b="1">
                <a:solidFill>
                  <a:srgbClr val="182341"/>
                </a:solidFill>
                <a:latin typeface="Avenir Next"/>
                <a:ea typeface="Avenir Next"/>
                <a:cs typeface="Avenir Next"/>
              </a:defRPr>
            </a:lvl7pPr>
            <a:lvl8pPr>
              <a:defRPr sz="1275" b="1">
                <a:solidFill>
                  <a:srgbClr val="182341"/>
                </a:solidFill>
                <a:latin typeface="Avenir Next"/>
                <a:ea typeface="Avenir Next"/>
                <a:cs typeface="Avenir Next"/>
              </a:defRPr>
            </a:lvl8pPr>
            <a:lvl9pPr>
              <a:defRPr sz="1275" b="1">
                <a:solidFill>
                  <a:srgbClr val="182341"/>
                </a:solidFill>
                <a:latin typeface="Avenir Next"/>
                <a:ea typeface="Avenir Next"/>
                <a:cs typeface="Avenir Next"/>
              </a:defRPr>
            </a:lvl9pPr>
          </a:lstStyle>
          <a:p xmlns:a="http://schemas.openxmlformats.org/drawingml/2006/main">
            <a:pPr>
              <a:buNone/>
              <a:defRPr sz="1275" b="1">
                <a:solidFill>
                  <a:srgbClr val="182341"/>
                </a:solidFill>
                <a:latin typeface="Avenir Next"/>
                <a:ea typeface="Avenir Next"/>
                <a:cs typeface="Avenir Next"/>
              </a:defRPr>
            </a:pPr>
            <a:r>
              <a:rPr sz="1275" b="1">
                <a:solidFill>
                  <a:srgbClr val="182341"/>
                </a:solidFill>
                <a:latin typeface="Avenir Next"/>
                <a:ea typeface="Avenir Next"/>
                <a:cs typeface="Avenir Next"/>
              </a:rPr>
              <a:t>WHAT I NOTICE</a:t>
            </a:r>
          </a:p>
        </p:txBody>
      </p:sp>
      <p:sp>
        <p:nvSpPr>
          <p:cNvPr id="17" name="">
            <a:extLst xmlns:a="http://schemas.openxmlformats.org/drawingml/2006/main">
              <a:ext uri="{FF2B5EF4-FFF2-40B4-BE49-F238E27FC236}">
                <a16:creationId xmlns:a16="http://schemas.microsoft.com/office/drawing/2014/main" id="{5B12A713-9553-46E9-95A0-35D0D08C6500}"/>
              </a:ext>
            </a:extLst>
          </p:cNvPr>
          <p:cNvSpPr>
            <a:spLocks xmlns:a="http://schemas.openxmlformats.org/drawingml/2006/main" noGrp="1"/>
          </p:cNvSpPr>
          <p:nvPr/>
        </p:nvSpPr>
        <p:spPr>
          <a:xfrm xmlns:a="http://schemas.openxmlformats.org/drawingml/2006/main">
            <a:off x="9248775" y="1695450"/>
            <a:ext cx="24288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3854"/>
                </a:solidFill>
                <a:latin typeface="Avenir Next"/>
                <a:ea typeface="Avenir Next"/>
                <a:cs typeface="Avenir Next"/>
              </a:defRPr>
            </a:defPPr>
            <a:lvl1pPr>
              <a:defRPr sz="1350" b="0">
                <a:solidFill>
                  <a:srgbClr val="263854"/>
                </a:solidFill>
                <a:latin typeface="Avenir Next"/>
                <a:ea typeface="Avenir Next"/>
                <a:cs typeface="Avenir Next"/>
              </a:defRPr>
            </a:lvl1pPr>
            <a:lvl2pPr>
              <a:defRPr sz="1350" b="0">
                <a:solidFill>
                  <a:srgbClr val="263854"/>
                </a:solidFill>
                <a:latin typeface="Avenir Next"/>
                <a:ea typeface="Avenir Next"/>
                <a:cs typeface="Avenir Next"/>
              </a:defRPr>
            </a:lvl2pPr>
            <a:lvl3pPr>
              <a:defRPr sz="1350" b="0">
                <a:solidFill>
                  <a:srgbClr val="263854"/>
                </a:solidFill>
                <a:latin typeface="Avenir Next"/>
                <a:ea typeface="Avenir Next"/>
                <a:cs typeface="Avenir Next"/>
              </a:defRPr>
            </a:lvl3pPr>
            <a:lvl4pPr>
              <a:defRPr sz="1350" b="0">
                <a:solidFill>
                  <a:srgbClr val="263854"/>
                </a:solidFill>
                <a:latin typeface="Avenir Next"/>
                <a:ea typeface="Avenir Next"/>
                <a:cs typeface="Avenir Next"/>
              </a:defRPr>
            </a:lvl4pPr>
            <a:lvl5pPr>
              <a:defRPr sz="1350" b="0">
                <a:solidFill>
                  <a:srgbClr val="263854"/>
                </a:solidFill>
                <a:latin typeface="Avenir Next"/>
                <a:ea typeface="Avenir Next"/>
                <a:cs typeface="Avenir Next"/>
              </a:defRPr>
            </a:lvl5pPr>
            <a:lvl6pPr>
              <a:defRPr sz="1350" b="0">
                <a:solidFill>
                  <a:srgbClr val="263854"/>
                </a:solidFill>
                <a:latin typeface="Avenir Next"/>
                <a:ea typeface="Avenir Next"/>
                <a:cs typeface="Avenir Next"/>
              </a:defRPr>
            </a:lvl6pPr>
            <a:lvl7pPr>
              <a:defRPr sz="1350" b="0">
                <a:solidFill>
                  <a:srgbClr val="263854"/>
                </a:solidFill>
                <a:latin typeface="Avenir Next"/>
                <a:ea typeface="Avenir Next"/>
                <a:cs typeface="Avenir Next"/>
              </a:defRPr>
            </a:lvl7pPr>
            <a:lvl8pPr>
              <a:defRPr sz="1350" b="0">
                <a:solidFill>
                  <a:srgbClr val="263854"/>
                </a:solidFill>
                <a:latin typeface="Avenir Next"/>
                <a:ea typeface="Avenir Next"/>
                <a:cs typeface="Avenir Next"/>
              </a:defRPr>
            </a:lvl8pPr>
            <a:lvl9pPr>
              <a:defRPr sz="1350" b="0">
                <a:solidFill>
                  <a:srgbClr val="263854"/>
                </a:solidFill>
                <a:latin typeface="Avenir Next"/>
                <a:ea typeface="Avenir Next"/>
                <a:cs typeface="Avenir Next"/>
              </a:defRPr>
            </a:lvl9pPr>
          </a:lstStyle>
          <a:p xmlns:a="http://schemas.openxmlformats.org/drawingml/2006/main">
            <a:pPr>
              <a:buNone/>
              <a:defRPr sz="1350" b="0">
                <a:solidFill>
                  <a:srgbClr val="263854"/>
                </a:solidFill>
                <a:latin typeface="Avenir Next"/>
                <a:ea typeface="Avenir Next"/>
                <a:cs typeface="Avenir Next"/>
              </a:defRPr>
            </a:pPr>
            <a:r>
              <a:rPr sz="1350" b="0">
                <a:solidFill>
                  <a:srgbClr val="263854"/>
                </a:solidFill>
                <a:latin typeface="Avenir Next"/>
                <a:ea typeface="Avenir Next"/>
                <a:cs typeface="Avenir Next"/>
              </a:rPr>
              <a:t>1–3  Big, playful names; one obvious next action. The screens feel game-like without making the form hard to use.</a:t>
            </a:r>
          </a:p>
        </p:txBody>
      </p:sp>
      <p:sp>
        <p:nvSpPr>
          <p:cNvPr id="18" name="">
            <a:extLst xmlns:a="http://schemas.openxmlformats.org/drawingml/2006/main">
              <a:ext uri="{FF2B5EF4-FFF2-40B4-BE49-F238E27FC236}">
                <a16:creationId xmlns:a16="http://schemas.microsoft.com/office/drawing/2014/main" id="{584179EA-92EA-427B-8AB6-C1805789616B}"/>
              </a:ext>
            </a:extLst>
          </p:cNvPr>
          <p:cNvSpPr>
            <a:spLocks xmlns:a="http://schemas.openxmlformats.org/drawingml/2006/main" noGrp="1"/>
          </p:cNvSpPr>
          <p:nvPr/>
        </p:nvSpPr>
        <p:spPr>
          <a:xfrm xmlns:a="http://schemas.openxmlformats.org/drawingml/2006/main">
            <a:off x="9248775" y="2876550"/>
            <a:ext cx="2428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3854"/>
                </a:solidFill>
                <a:latin typeface="Avenir Next"/>
                <a:ea typeface="Avenir Next"/>
                <a:cs typeface="Avenir Next"/>
              </a:defRPr>
            </a:defPPr>
            <a:lvl1pPr>
              <a:defRPr sz="1350" b="0">
                <a:solidFill>
                  <a:srgbClr val="263854"/>
                </a:solidFill>
                <a:latin typeface="Avenir Next"/>
                <a:ea typeface="Avenir Next"/>
                <a:cs typeface="Avenir Next"/>
              </a:defRPr>
            </a:lvl1pPr>
            <a:lvl2pPr>
              <a:defRPr sz="1350" b="0">
                <a:solidFill>
                  <a:srgbClr val="263854"/>
                </a:solidFill>
                <a:latin typeface="Avenir Next"/>
                <a:ea typeface="Avenir Next"/>
                <a:cs typeface="Avenir Next"/>
              </a:defRPr>
            </a:lvl2pPr>
            <a:lvl3pPr>
              <a:defRPr sz="1350" b="0">
                <a:solidFill>
                  <a:srgbClr val="263854"/>
                </a:solidFill>
                <a:latin typeface="Avenir Next"/>
                <a:ea typeface="Avenir Next"/>
                <a:cs typeface="Avenir Next"/>
              </a:defRPr>
            </a:lvl3pPr>
            <a:lvl4pPr>
              <a:defRPr sz="1350" b="0">
                <a:solidFill>
                  <a:srgbClr val="263854"/>
                </a:solidFill>
                <a:latin typeface="Avenir Next"/>
                <a:ea typeface="Avenir Next"/>
                <a:cs typeface="Avenir Next"/>
              </a:defRPr>
            </a:lvl4pPr>
            <a:lvl5pPr>
              <a:defRPr sz="1350" b="0">
                <a:solidFill>
                  <a:srgbClr val="263854"/>
                </a:solidFill>
                <a:latin typeface="Avenir Next"/>
                <a:ea typeface="Avenir Next"/>
                <a:cs typeface="Avenir Next"/>
              </a:defRPr>
            </a:lvl5pPr>
            <a:lvl6pPr>
              <a:defRPr sz="1350" b="0">
                <a:solidFill>
                  <a:srgbClr val="263854"/>
                </a:solidFill>
                <a:latin typeface="Avenir Next"/>
                <a:ea typeface="Avenir Next"/>
                <a:cs typeface="Avenir Next"/>
              </a:defRPr>
            </a:lvl6pPr>
            <a:lvl7pPr>
              <a:defRPr sz="1350" b="0">
                <a:solidFill>
                  <a:srgbClr val="263854"/>
                </a:solidFill>
                <a:latin typeface="Avenir Next"/>
                <a:ea typeface="Avenir Next"/>
                <a:cs typeface="Avenir Next"/>
              </a:defRPr>
            </a:lvl7pPr>
            <a:lvl8pPr>
              <a:defRPr sz="1350" b="0">
                <a:solidFill>
                  <a:srgbClr val="263854"/>
                </a:solidFill>
                <a:latin typeface="Avenir Next"/>
                <a:ea typeface="Avenir Next"/>
                <a:cs typeface="Avenir Next"/>
              </a:defRPr>
            </a:lvl8pPr>
            <a:lvl9pPr>
              <a:defRPr sz="1350" b="0">
                <a:solidFill>
                  <a:srgbClr val="263854"/>
                </a:solidFill>
                <a:latin typeface="Avenir Next"/>
                <a:ea typeface="Avenir Next"/>
                <a:cs typeface="Avenir Next"/>
              </a:defRPr>
            </a:lvl9pPr>
          </a:lstStyle>
          <a:p xmlns:a="http://schemas.openxmlformats.org/drawingml/2006/main">
            <a:pPr>
              <a:buNone/>
              <a:defRPr sz="1350" b="0">
                <a:solidFill>
                  <a:srgbClr val="263854"/>
                </a:solidFill>
                <a:latin typeface="Avenir Next"/>
                <a:ea typeface="Avenir Next"/>
                <a:cs typeface="Avenir Next"/>
              </a:defRPr>
            </a:pPr>
            <a:r>
              <a:rPr sz="1350" b="0">
                <a:solidFill>
                  <a:srgbClr val="263854"/>
                </a:solidFill>
                <a:latin typeface="Avenir Next"/>
                <a:ea typeface="Avenir Next"/>
                <a:cs typeface="Avenir Next"/>
              </a:rPr>
              <a:t>4–6  Characterful display type paired with quieter supporting text. Pavel shows that a serif can work too.</a:t>
            </a:r>
          </a:p>
        </p:txBody>
      </p:sp>
      <p:sp>
        <p:nvSpPr>
          <p:cNvPr id="19" name="">
            <a:extLst xmlns:a="http://schemas.openxmlformats.org/drawingml/2006/main">
              <a:ext uri="{FF2B5EF4-FFF2-40B4-BE49-F238E27FC236}">
                <a16:creationId xmlns:a16="http://schemas.microsoft.com/office/drawing/2014/main" id="{56415CB0-0BC4-40A3-B00D-B6E6E0721AA8}"/>
              </a:ext>
            </a:extLst>
          </p:cNvPr>
          <p:cNvSpPr>
            <a:spLocks xmlns:a="http://schemas.openxmlformats.org/drawingml/2006/main" noGrp="1"/>
          </p:cNvSpPr>
          <p:nvPr/>
        </p:nvSpPr>
        <p:spPr>
          <a:xfrm xmlns:a="http://schemas.openxmlformats.org/drawingml/2006/main">
            <a:off x="9248775" y="41243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182341"/>
                </a:solidFill>
                <a:latin typeface="Avenir Next"/>
                <a:ea typeface="Avenir Next"/>
                <a:cs typeface="Avenir Next"/>
              </a:defRPr>
            </a:defPPr>
            <a:lvl1pPr>
              <a:defRPr sz="1275" b="1">
                <a:solidFill>
                  <a:srgbClr val="182341"/>
                </a:solidFill>
                <a:latin typeface="Avenir Next"/>
                <a:ea typeface="Avenir Next"/>
                <a:cs typeface="Avenir Next"/>
              </a:defRPr>
            </a:lvl1pPr>
            <a:lvl2pPr>
              <a:defRPr sz="1275" b="1">
                <a:solidFill>
                  <a:srgbClr val="182341"/>
                </a:solidFill>
                <a:latin typeface="Avenir Next"/>
                <a:ea typeface="Avenir Next"/>
                <a:cs typeface="Avenir Next"/>
              </a:defRPr>
            </a:lvl2pPr>
            <a:lvl3pPr>
              <a:defRPr sz="1275" b="1">
                <a:solidFill>
                  <a:srgbClr val="182341"/>
                </a:solidFill>
                <a:latin typeface="Avenir Next"/>
                <a:ea typeface="Avenir Next"/>
                <a:cs typeface="Avenir Next"/>
              </a:defRPr>
            </a:lvl3pPr>
            <a:lvl4pPr>
              <a:defRPr sz="1275" b="1">
                <a:solidFill>
                  <a:srgbClr val="182341"/>
                </a:solidFill>
                <a:latin typeface="Avenir Next"/>
                <a:ea typeface="Avenir Next"/>
                <a:cs typeface="Avenir Next"/>
              </a:defRPr>
            </a:lvl4pPr>
            <a:lvl5pPr>
              <a:defRPr sz="1275" b="1">
                <a:solidFill>
                  <a:srgbClr val="182341"/>
                </a:solidFill>
                <a:latin typeface="Avenir Next"/>
                <a:ea typeface="Avenir Next"/>
                <a:cs typeface="Avenir Next"/>
              </a:defRPr>
            </a:lvl5pPr>
            <a:lvl6pPr>
              <a:defRPr sz="1275" b="1">
                <a:solidFill>
                  <a:srgbClr val="182341"/>
                </a:solidFill>
                <a:latin typeface="Avenir Next"/>
                <a:ea typeface="Avenir Next"/>
                <a:cs typeface="Avenir Next"/>
              </a:defRPr>
            </a:lvl6pPr>
            <a:lvl7pPr>
              <a:defRPr sz="1275" b="1">
                <a:solidFill>
                  <a:srgbClr val="182341"/>
                </a:solidFill>
                <a:latin typeface="Avenir Next"/>
                <a:ea typeface="Avenir Next"/>
                <a:cs typeface="Avenir Next"/>
              </a:defRPr>
            </a:lvl7pPr>
            <a:lvl8pPr>
              <a:defRPr sz="1275" b="1">
                <a:solidFill>
                  <a:srgbClr val="182341"/>
                </a:solidFill>
                <a:latin typeface="Avenir Next"/>
                <a:ea typeface="Avenir Next"/>
                <a:cs typeface="Avenir Next"/>
              </a:defRPr>
            </a:lvl8pPr>
            <a:lvl9pPr>
              <a:defRPr sz="1275" b="1">
                <a:solidFill>
                  <a:srgbClr val="182341"/>
                </a:solidFill>
                <a:latin typeface="Avenir Next"/>
                <a:ea typeface="Avenir Next"/>
                <a:cs typeface="Avenir Next"/>
              </a:defRPr>
            </a:lvl9pPr>
          </a:lstStyle>
          <a:p xmlns:a="http://schemas.openxmlformats.org/drawingml/2006/main">
            <a:pPr>
              <a:buNone/>
              <a:defRPr sz="1275" b="1">
                <a:solidFill>
                  <a:srgbClr val="182341"/>
                </a:solidFill>
                <a:latin typeface="Avenir Next"/>
                <a:ea typeface="Avenir Next"/>
                <a:cs typeface="Avenir Next"/>
              </a:defRPr>
            </a:pPr>
            <a:r>
              <a:rPr sz="1275" b="1">
                <a:solidFill>
                  <a:srgbClr val="182341"/>
                </a:solidFill>
                <a:latin typeface="Avenir Next"/>
                <a:ea typeface="Avenir Next"/>
                <a:cs typeface="Avenir Next"/>
              </a:rPr>
              <a:t>WORDS FOR THIS</a:t>
            </a:r>
          </a:p>
        </p:txBody>
      </p:sp>
      <p:sp>
        <p:nvSpPr>
          <p:cNvPr id="20" name="">
            <a:extLst xmlns:a="http://schemas.openxmlformats.org/drawingml/2006/main">
              <a:ext uri="{FF2B5EF4-FFF2-40B4-BE49-F238E27FC236}">
                <a16:creationId xmlns:a16="http://schemas.microsoft.com/office/drawing/2014/main" id="{E1F69DC8-B4F4-4786-9D19-6F1FF438D620}"/>
              </a:ext>
            </a:extLst>
          </p:cNvPr>
          <p:cNvSpPr>
            <a:spLocks xmlns:a="http://schemas.openxmlformats.org/drawingml/2006/main" noGrp="1"/>
          </p:cNvSpPr>
          <p:nvPr/>
        </p:nvSpPr>
        <p:spPr>
          <a:xfrm xmlns:a="http://schemas.openxmlformats.org/drawingml/2006/main">
            <a:off x="9248775" y="4486275"/>
            <a:ext cx="2428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3854"/>
                </a:solidFill>
                <a:latin typeface="Avenir Next"/>
                <a:ea typeface="Avenir Next"/>
                <a:cs typeface="Avenir Next"/>
              </a:defRPr>
            </a:defPPr>
            <a:lvl1pPr>
              <a:defRPr sz="1200" b="0">
                <a:solidFill>
                  <a:srgbClr val="263854"/>
                </a:solidFill>
                <a:latin typeface="Avenir Next"/>
                <a:ea typeface="Avenir Next"/>
                <a:cs typeface="Avenir Next"/>
              </a:defRPr>
            </a:lvl1pPr>
            <a:lvl2pPr>
              <a:defRPr sz="1200" b="0">
                <a:solidFill>
                  <a:srgbClr val="263854"/>
                </a:solidFill>
                <a:latin typeface="Avenir Next"/>
                <a:ea typeface="Avenir Next"/>
                <a:cs typeface="Avenir Next"/>
              </a:defRPr>
            </a:lvl2pPr>
            <a:lvl3pPr>
              <a:defRPr sz="1200" b="0">
                <a:solidFill>
                  <a:srgbClr val="263854"/>
                </a:solidFill>
                <a:latin typeface="Avenir Next"/>
                <a:ea typeface="Avenir Next"/>
                <a:cs typeface="Avenir Next"/>
              </a:defRPr>
            </a:lvl3pPr>
            <a:lvl4pPr>
              <a:defRPr sz="1200" b="0">
                <a:solidFill>
                  <a:srgbClr val="263854"/>
                </a:solidFill>
                <a:latin typeface="Avenir Next"/>
                <a:ea typeface="Avenir Next"/>
                <a:cs typeface="Avenir Next"/>
              </a:defRPr>
            </a:lvl4pPr>
            <a:lvl5pPr>
              <a:defRPr sz="1200" b="0">
                <a:solidFill>
                  <a:srgbClr val="263854"/>
                </a:solidFill>
                <a:latin typeface="Avenir Next"/>
                <a:ea typeface="Avenir Next"/>
                <a:cs typeface="Avenir Next"/>
              </a:defRPr>
            </a:lvl5pPr>
            <a:lvl6pPr>
              <a:defRPr sz="1200" b="0">
                <a:solidFill>
                  <a:srgbClr val="263854"/>
                </a:solidFill>
                <a:latin typeface="Avenir Next"/>
                <a:ea typeface="Avenir Next"/>
                <a:cs typeface="Avenir Next"/>
              </a:defRPr>
            </a:lvl6pPr>
            <a:lvl7pPr>
              <a:defRPr sz="1200" b="0">
                <a:solidFill>
                  <a:srgbClr val="263854"/>
                </a:solidFill>
                <a:latin typeface="Avenir Next"/>
                <a:ea typeface="Avenir Next"/>
                <a:cs typeface="Avenir Next"/>
              </a:defRPr>
            </a:lvl7pPr>
            <a:lvl8pPr>
              <a:defRPr sz="1200" b="0">
                <a:solidFill>
                  <a:srgbClr val="263854"/>
                </a:solidFill>
                <a:latin typeface="Avenir Next"/>
                <a:ea typeface="Avenir Next"/>
                <a:cs typeface="Avenir Next"/>
              </a:defRPr>
            </a:lvl8pPr>
            <a:lvl9pPr>
              <a:defRPr sz="1200" b="0">
                <a:solidFill>
                  <a:srgbClr val="263854"/>
                </a:solidFill>
                <a:latin typeface="Avenir Next"/>
                <a:ea typeface="Avenir Next"/>
                <a:cs typeface="Avenir Next"/>
              </a:defRPr>
            </a:lvl9pPr>
          </a:lstStyle>
          <a:p xmlns:a="http://schemas.openxmlformats.org/drawingml/2006/main">
            <a:pPr>
              <a:buNone/>
              <a:defRPr sz="1200" b="0">
                <a:solidFill>
                  <a:srgbClr val="263854"/>
                </a:solidFill>
                <a:latin typeface="Avenir Next"/>
                <a:ea typeface="Avenir Next"/>
                <a:cs typeface="Avenir Next"/>
              </a:defRPr>
            </a:pPr>
            <a:r>
              <a:rPr sz="1200" b="0">
                <a:solidFill>
                  <a:srgbClr val="263854"/>
                </a:solidFill>
                <a:latin typeface="Avenir Next"/>
                <a:ea typeface="Avenir Next"/>
                <a:cs typeface="Avenir Next"/>
              </a:rPr>
              <a:t>Display = expressive headline</a:t>
            </a:r>
          </a:p>
          <a:p xmlns:a="http://schemas.openxmlformats.org/drawingml/2006/main">
            <a:pPr>
              <a:buNone/>
              <a:defRPr sz="1200" b="0">
                <a:solidFill>
                  <a:srgbClr val="263854"/>
                </a:solidFill>
                <a:latin typeface="Avenir Next"/>
                <a:ea typeface="Avenir Next"/>
                <a:cs typeface="Avenir Next"/>
              </a:defRPr>
            </a:pPr>
            <a:r>
              <a:rPr sz="1200" b="0">
                <a:solidFill>
                  <a:srgbClr val="263854"/>
                </a:solidFill>
                <a:latin typeface="Avenir Next"/>
                <a:ea typeface="Avenir Next"/>
                <a:cs typeface="Avenir Next"/>
              </a:rPr>
              <a:t>Hierarchy = size guides the eye</a:t>
            </a:r>
          </a:p>
          <a:p xmlns:a="http://schemas.openxmlformats.org/drawingml/2006/main">
            <a:pPr>
              <a:buNone/>
              <a:defRPr sz="1200" b="0">
                <a:solidFill>
                  <a:srgbClr val="263854"/>
                </a:solidFill>
                <a:latin typeface="Avenir Next"/>
                <a:ea typeface="Avenir Next"/>
                <a:cs typeface="Avenir Next"/>
              </a:defRPr>
            </a:pPr>
            <a:r>
              <a:rPr sz="1200" b="0">
                <a:solidFill>
                  <a:srgbClr val="263854"/>
                </a:solidFill>
                <a:latin typeface="Avenir Next"/>
                <a:ea typeface="Avenir Next"/>
                <a:cs typeface="Avenir Next"/>
              </a:rPr>
              <a:t>Weight = stroke thickness</a:t>
            </a:r>
          </a:p>
          <a:p xmlns:a="http://schemas.openxmlformats.org/drawingml/2006/main">
            <a:pPr>
              <a:buNone/>
              <a:defRPr sz="1200" b="0">
                <a:solidFill>
                  <a:srgbClr val="263854"/>
                </a:solidFill>
                <a:latin typeface="Avenir Next"/>
                <a:ea typeface="Avenir Next"/>
                <a:cs typeface="Avenir Next"/>
              </a:defRPr>
            </a:pPr>
            <a:r>
              <a:rPr sz="1200" b="0">
                <a:solidFill>
                  <a:srgbClr val="263854"/>
                </a:solidFill>
                <a:latin typeface="Avenir Next"/>
                <a:ea typeface="Avenir Next"/>
                <a:cs typeface="Avenir Next"/>
              </a:rPr>
              <a:t>Serif = finishing strokes</a:t>
            </a:r>
          </a:p>
        </p:txBody>
      </p:sp>
      <p:sp>
        <p:nvSpPr>
          <p:cNvPr id="21" name="">
            <a:extLst xmlns:a="http://schemas.openxmlformats.org/drawingml/2006/main">
              <a:ext uri="{FF2B5EF4-FFF2-40B4-BE49-F238E27FC236}">
                <a16:creationId xmlns:a16="http://schemas.microsoft.com/office/drawing/2014/main" id="{874BC49C-0A34-44A4-BFB9-937BA850D1D7}"/>
              </a:ext>
            </a:extLst>
          </p:cNvPr>
          <p:cNvSpPr>
            <a:spLocks xmlns:a="http://schemas.openxmlformats.org/drawingml/2006/main" noGrp="1"/>
          </p:cNvSpPr>
          <p:nvPr/>
        </p:nvSpPr>
        <p:spPr>
          <a:xfrm xmlns:a="http://schemas.openxmlformats.org/drawingml/2006/main">
            <a:off x="9248775" y="5648325"/>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D5189"/>
                </a:solidFill>
                <a:latin typeface="Avenir Next"/>
                <a:ea typeface="Avenir Next"/>
                <a:cs typeface="Avenir Next"/>
              </a:defRPr>
            </a:defPPr>
            <a:lvl1pPr>
              <a:defRPr sz="1275" b="1">
                <a:solidFill>
                  <a:srgbClr val="2D5189"/>
                </a:solidFill>
                <a:latin typeface="Avenir Next"/>
                <a:ea typeface="Avenir Next"/>
                <a:cs typeface="Avenir Next"/>
              </a:defRPr>
            </a:lvl1pPr>
            <a:lvl2pPr>
              <a:defRPr sz="1275" b="1">
                <a:solidFill>
                  <a:srgbClr val="2D5189"/>
                </a:solidFill>
                <a:latin typeface="Avenir Next"/>
                <a:ea typeface="Avenir Next"/>
                <a:cs typeface="Avenir Next"/>
              </a:defRPr>
            </a:lvl2pPr>
            <a:lvl3pPr>
              <a:defRPr sz="1275" b="1">
                <a:solidFill>
                  <a:srgbClr val="2D5189"/>
                </a:solidFill>
                <a:latin typeface="Avenir Next"/>
                <a:ea typeface="Avenir Next"/>
                <a:cs typeface="Avenir Next"/>
              </a:defRPr>
            </a:lvl3pPr>
            <a:lvl4pPr>
              <a:defRPr sz="1275" b="1">
                <a:solidFill>
                  <a:srgbClr val="2D5189"/>
                </a:solidFill>
                <a:latin typeface="Avenir Next"/>
                <a:ea typeface="Avenir Next"/>
                <a:cs typeface="Avenir Next"/>
              </a:defRPr>
            </a:lvl4pPr>
            <a:lvl5pPr>
              <a:defRPr sz="1275" b="1">
                <a:solidFill>
                  <a:srgbClr val="2D5189"/>
                </a:solidFill>
                <a:latin typeface="Avenir Next"/>
                <a:ea typeface="Avenir Next"/>
                <a:cs typeface="Avenir Next"/>
              </a:defRPr>
            </a:lvl5pPr>
            <a:lvl6pPr>
              <a:defRPr sz="1275" b="1">
                <a:solidFill>
                  <a:srgbClr val="2D5189"/>
                </a:solidFill>
                <a:latin typeface="Avenir Next"/>
                <a:ea typeface="Avenir Next"/>
                <a:cs typeface="Avenir Next"/>
              </a:defRPr>
            </a:lvl6pPr>
            <a:lvl7pPr>
              <a:defRPr sz="1275" b="1">
                <a:solidFill>
                  <a:srgbClr val="2D5189"/>
                </a:solidFill>
                <a:latin typeface="Avenir Next"/>
                <a:ea typeface="Avenir Next"/>
                <a:cs typeface="Avenir Next"/>
              </a:defRPr>
            </a:lvl7pPr>
            <a:lvl8pPr>
              <a:defRPr sz="1275" b="1">
                <a:solidFill>
                  <a:srgbClr val="2D5189"/>
                </a:solidFill>
                <a:latin typeface="Avenir Next"/>
                <a:ea typeface="Avenir Next"/>
                <a:cs typeface="Avenir Next"/>
              </a:defRPr>
            </a:lvl8pPr>
            <a:lvl9pPr>
              <a:defRPr sz="1275" b="1">
                <a:solidFill>
                  <a:srgbClr val="2D5189"/>
                </a:solidFill>
                <a:latin typeface="Avenir Next"/>
                <a:ea typeface="Avenir Next"/>
                <a:cs typeface="Avenir Next"/>
              </a:defRPr>
            </a:lvl9pPr>
          </a:lstStyle>
          <a:p xmlns:a="http://schemas.openxmlformats.org/drawingml/2006/main">
            <a:pPr>
              <a:buNone/>
              <a:defRPr sz="1275" b="1">
                <a:solidFill>
                  <a:srgbClr val="2D5189"/>
                </a:solidFill>
                <a:latin typeface="Avenir Next"/>
                <a:ea typeface="Avenir Next"/>
                <a:cs typeface="Avenir Next"/>
              </a:defRPr>
            </a:pPr>
            <a:r>
              <a:rPr sz="1275" b="1">
                <a:solidFill>
                  <a:srgbClr val="2D5189"/>
                </a:solidFill>
                <a:latin typeface="Avenir Next"/>
                <a:ea typeface="Avenir Next"/>
                <a:cs typeface="Avenir Next"/>
              </a:rPr>
              <a:t>Used in Roam: booth name and call action lead; quieter labels make the next step clear.</a:t>
            </a:r>
          </a:p>
        </p:txBody>
      </p:sp>
      <p:cxnSp>
        <p:nvCxnSpPr>
          <p:cNvPr id="23" name="">
            <a:extLst xmlns:a="http://schemas.openxmlformats.org/drawingml/2006/main">
              <a:ext uri="{FF2B5EF4-FFF2-40B4-BE49-F238E27FC236}">
                <a16:creationId xmlns:a16="http://schemas.microsoft.com/office/drawing/2014/main" id="{203F4D97-FDD1-438D-B974-0996CDC86964}"/>
              </a:ext>
            </a:extLst>
          </p:cNvPr>
          <p:cNvCxnSpPr/>
          <p:nvPr/>
        </p:nvCxnSpPr>
        <p:spPr>
          <a:xfrm xmlns:a="http://schemas.openxmlformats.org/drawingml/2006/main">
            <a:off x="1428750" y="1800225"/>
            <a:ext cx="0" cy="285750"/>
          </a:xfrm>
          <a:prstGeom xmlns:a="http://schemas.openxmlformats.org/drawingml/2006/main" prst="straightConnector1">
            <a:avLst/>
          </a:prstGeom>
          <a:ln xmlns:a="http://schemas.openxmlformats.org/drawingml/2006/main" w="23813">
            <a:solidFill>
              <a:srgbClr val="6854D8"/>
            </a:solidFill>
            <a:prstDash val="solid"/>
            <a:tailEnd type="triangle" w="sm" len="sm"/>
          </a:ln>
        </p:spPr>
      </p:cxnSp>
      <p:sp>
        <p:nvSpPr>
          <p:cNvPr id="24" name="">
            <a:extLst xmlns:a="http://schemas.openxmlformats.org/drawingml/2006/main">
              <a:ext uri="{FF2B5EF4-FFF2-40B4-BE49-F238E27FC236}">
                <a16:creationId xmlns:a16="http://schemas.microsoft.com/office/drawing/2014/main" id="{519BAC6B-0300-4AE3-AE68-8EA64A6AAD16}"/>
              </a:ext>
            </a:extLst>
          </p:cNvPr>
          <p:cNvSpPr>
            <a:spLocks xmlns:a="http://schemas.openxmlformats.org/drawingml/2006/main" noGrp="1"/>
          </p:cNvSpPr>
          <p:nvPr/>
        </p:nvSpPr>
        <p:spPr>
          <a:xfrm xmlns:a="http://schemas.openxmlformats.org/drawingml/2006/main">
            <a:off x="523875" y="1362075"/>
            <a:ext cx="1809750" cy="43815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15240">
            <a:solidFill>
              <a:srgbClr val="6854D8"/>
            </a:solidFill>
            <a:prstDash val="solid"/>
          </a:ln>
        </p:spPr>
        <p:txBody>
          <a:bodyPr xmlns:a="http://schemas.openxmlformats.org/drawingml/2006/main" lIns="76200" tIns="28575" rIns="76200" bIns="28575" anchor="ctr"/>
          <a:lstStyle xmlns:a="http://schemas.openxmlformats.org/drawingml/2006/main">
            <a:defPPr algn="ctr">
              <a:defRPr sz="1050" b="1">
                <a:solidFill>
                  <a:srgbClr val="182341"/>
                </a:solidFill>
                <a:latin typeface="Avenir Next"/>
                <a:ea typeface="Avenir Next"/>
                <a:cs typeface="Avenir Next"/>
              </a:defRPr>
            </a:defPPr>
            <a:lvl1pPr algn="ctr">
              <a:defRPr sz="1050" b="1">
                <a:solidFill>
                  <a:srgbClr val="182341"/>
                </a:solidFill>
                <a:latin typeface="Avenir Next"/>
                <a:ea typeface="Avenir Next"/>
                <a:cs typeface="Avenir Next"/>
              </a:defRPr>
            </a:lvl1pPr>
            <a:lvl2pPr algn="ctr">
              <a:defRPr sz="1050" b="1">
                <a:solidFill>
                  <a:srgbClr val="182341"/>
                </a:solidFill>
                <a:latin typeface="Avenir Next"/>
                <a:ea typeface="Avenir Next"/>
                <a:cs typeface="Avenir Next"/>
              </a:defRPr>
            </a:lvl2pPr>
            <a:lvl3pPr algn="ctr">
              <a:defRPr sz="1050" b="1">
                <a:solidFill>
                  <a:srgbClr val="182341"/>
                </a:solidFill>
                <a:latin typeface="Avenir Next"/>
                <a:ea typeface="Avenir Next"/>
                <a:cs typeface="Avenir Next"/>
              </a:defRPr>
            </a:lvl3pPr>
            <a:lvl4pPr algn="ctr">
              <a:defRPr sz="1050" b="1">
                <a:solidFill>
                  <a:srgbClr val="182341"/>
                </a:solidFill>
                <a:latin typeface="Avenir Next"/>
                <a:ea typeface="Avenir Next"/>
                <a:cs typeface="Avenir Next"/>
              </a:defRPr>
            </a:lvl4pPr>
            <a:lvl5pPr algn="ctr">
              <a:defRPr sz="1050" b="1">
                <a:solidFill>
                  <a:srgbClr val="182341"/>
                </a:solidFill>
                <a:latin typeface="Avenir Next"/>
                <a:ea typeface="Avenir Next"/>
                <a:cs typeface="Avenir Next"/>
              </a:defRPr>
            </a:lvl5pPr>
            <a:lvl6pPr algn="ctr">
              <a:defRPr sz="1050" b="1">
                <a:solidFill>
                  <a:srgbClr val="182341"/>
                </a:solidFill>
                <a:latin typeface="Avenir Next"/>
                <a:ea typeface="Avenir Next"/>
                <a:cs typeface="Avenir Next"/>
              </a:defRPr>
            </a:lvl6pPr>
            <a:lvl7pPr algn="ctr">
              <a:defRPr sz="1050" b="1">
                <a:solidFill>
                  <a:srgbClr val="182341"/>
                </a:solidFill>
                <a:latin typeface="Avenir Next"/>
                <a:ea typeface="Avenir Next"/>
                <a:cs typeface="Avenir Next"/>
              </a:defRPr>
            </a:lvl7pPr>
            <a:lvl8pPr algn="ctr">
              <a:defRPr sz="1050" b="1">
                <a:solidFill>
                  <a:srgbClr val="182341"/>
                </a:solidFill>
                <a:latin typeface="Avenir Next"/>
                <a:ea typeface="Avenir Next"/>
                <a:cs typeface="Avenir Next"/>
              </a:defRPr>
            </a:lvl8pPr>
            <a:lvl9pPr algn="ctr">
              <a:defRPr sz="1050" b="1">
                <a:solidFill>
                  <a:srgbClr val="182341"/>
                </a:solidFill>
                <a:latin typeface="Avenir Next"/>
                <a:ea typeface="Avenir Next"/>
                <a:cs typeface="Avenir Next"/>
              </a:defRPr>
            </a:lvl9pPr>
          </a:lstStyle>
          <a:p xmlns:a="http://schemas.openxmlformats.org/drawingml/2006/main">
            <a:pPr algn="ctr">
              <a:defRPr sz="1050" b="1">
                <a:solidFill>
                  <a:srgbClr val="182341"/>
                </a:solidFill>
                <a:latin typeface="Avenir Next"/>
                <a:ea typeface="Avenir Next"/>
                <a:cs typeface="Avenir Next"/>
              </a:defRPr>
            </a:pPr>
            <a:r>
              <a:rPr sz="1050" b="1">
                <a:solidFill>
                  <a:srgbClr val="182341"/>
                </a:solidFill>
                <a:latin typeface="Avenir Next"/>
                <a:ea typeface="Avenir Next"/>
                <a:cs typeface="Avenir Next"/>
              </a:rPr>
              <a:t>Roam: code first so joining feels immediate.</a:t>
            </a:r>
          </a:p>
        </p:txBody>
      </p:sp>
      <p:cxnSp>
        <p:nvCxnSpPr>
          <p:cNvPr id="25" name="">
            <a:extLst xmlns:a="http://schemas.openxmlformats.org/drawingml/2006/main">
              <a:ext uri="{FF2B5EF4-FFF2-40B4-BE49-F238E27FC236}">
                <a16:creationId xmlns:a16="http://schemas.microsoft.com/office/drawing/2014/main" id="{5B56C5CD-4F14-4A58-867C-22C3759E63A3}"/>
              </a:ext>
            </a:extLst>
          </p:cNvPr>
          <p:cNvCxnSpPr/>
          <p:nvPr/>
        </p:nvCxnSpPr>
        <p:spPr>
          <a:xfrm xmlns:a="http://schemas.openxmlformats.org/drawingml/2006/main">
            <a:off x="5619750" y="1800225"/>
            <a:ext cx="0" cy="400050"/>
          </a:xfrm>
          <a:prstGeom xmlns:a="http://schemas.openxmlformats.org/drawingml/2006/main" prst="straightConnector1">
            <a:avLst/>
          </a:prstGeom>
          <a:ln xmlns:a="http://schemas.openxmlformats.org/drawingml/2006/main" w="23813">
            <a:solidFill>
              <a:srgbClr val="6854D8"/>
            </a:solidFill>
            <a:prstDash val="solid"/>
            <a:tailEnd type="triangle" w="sm" len="sm"/>
          </a:ln>
        </p:spPr>
      </p:cxnSp>
      <p:sp>
        <p:nvSpPr>
          <p:cNvPr id="26" name="">
            <a:extLst xmlns:a="http://schemas.openxmlformats.org/drawingml/2006/main">
              <a:ext uri="{FF2B5EF4-FFF2-40B4-BE49-F238E27FC236}">
                <a16:creationId xmlns:a16="http://schemas.microsoft.com/office/drawing/2014/main" id="{60C32215-EBF8-42C0-9A62-988F46209E97}"/>
              </a:ext>
            </a:extLst>
          </p:cNvPr>
          <p:cNvSpPr>
            <a:spLocks xmlns:a="http://schemas.openxmlformats.org/drawingml/2006/main" noGrp="1"/>
          </p:cNvSpPr>
          <p:nvPr/>
        </p:nvSpPr>
        <p:spPr>
          <a:xfrm xmlns:a="http://schemas.openxmlformats.org/drawingml/2006/main">
            <a:off x="4714875" y="1362075"/>
            <a:ext cx="1809750" cy="43815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15240">
            <a:solidFill>
              <a:srgbClr val="6854D8"/>
            </a:solidFill>
            <a:prstDash val="solid"/>
          </a:ln>
        </p:spPr>
        <p:txBody>
          <a:bodyPr xmlns:a="http://schemas.openxmlformats.org/drawingml/2006/main" lIns="76200" tIns="28575" rIns="76200" bIns="28575" anchor="ctr"/>
          <a:lstStyle xmlns:a="http://schemas.openxmlformats.org/drawingml/2006/main">
            <a:defPPr algn="ctr">
              <a:defRPr sz="1050" b="1">
                <a:solidFill>
                  <a:srgbClr val="182341"/>
                </a:solidFill>
                <a:latin typeface="Avenir Next"/>
                <a:ea typeface="Avenir Next"/>
                <a:cs typeface="Avenir Next"/>
              </a:defRPr>
            </a:defPPr>
            <a:lvl1pPr algn="ctr">
              <a:defRPr sz="1050" b="1">
                <a:solidFill>
                  <a:srgbClr val="182341"/>
                </a:solidFill>
                <a:latin typeface="Avenir Next"/>
                <a:ea typeface="Avenir Next"/>
                <a:cs typeface="Avenir Next"/>
              </a:defRPr>
            </a:lvl1pPr>
            <a:lvl2pPr algn="ctr">
              <a:defRPr sz="1050" b="1">
                <a:solidFill>
                  <a:srgbClr val="182341"/>
                </a:solidFill>
                <a:latin typeface="Avenir Next"/>
                <a:ea typeface="Avenir Next"/>
                <a:cs typeface="Avenir Next"/>
              </a:defRPr>
            </a:lvl2pPr>
            <a:lvl3pPr algn="ctr">
              <a:defRPr sz="1050" b="1">
                <a:solidFill>
                  <a:srgbClr val="182341"/>
                </a:solidFill>
                <a:latin typeface="Avenir Next"/>
                <a:ea typeface="Avenir Next"/>
                <a:cs typeface="Avenir Next"/>
              </a:defRPr>
            </a:lvl3pPr>
            <a:lvl4pPr algn="ctr">
              <a:defRPr sz="1050" b="1">
                <a:solidFill>
                  <a:srgbClr val="182341"/>
                </a:solidFill>
                <a:latin typeface="Avenir Next"/>
                <a:ea typeface="Avenir Next"/>
                <a:cs typeface="Avenir Next"/>
              </a:defRPr>
            </a:lvl4pPr>
            <a:lvl5pPr algn="ctr">
              <a:defRPr sz="1050" b="1">
                <a:solidFill>
                  <a:srgbClr val="182341"/>
                </a:solidFill>
                <a:latin typeface="Avenir Next"/>
                <a:ea typeface="Avenir Next"/>
                <a:cs typeface="Avenir Next"/>
              </a:defRPr>
            </a:lvl5pPr>
            <a:lvl6pPr algn="ctr">
              <a:defRPr sz="1050" b="1">
                <a:solidFill>
                  <a:srgbClr val="182341"/>
                </a:solidFill>
                <a:latin typeface="Avenir Next"/>
                <a:ea typeface="Avenir Next"/>
                <a:cs typeface="Avenir Next"/>
              </a:defRPr>
            </a:lvl6pPr>
            <a:lvl7pPr algn="ctr">
              <a:defRPr sz="1050" b="1">
                <a:solidFill>
                  <a:srgbClr val="182341"/>
                </a:solidFill>
                <a:latin typeface="Avenir Next"/>
                <a:ea typeface="Avenir Next"/>
                <a:cs typeface="Avenir Next"/>
              </a:defRPr>
            </a:lvl7pPr>
            <a:lvl8pPr algn="ctr">
              <a:defRPr sz="1050" b="1">
                <a:solidFill>
                  <a:srgbClr val="182341"/>
                </a:solidFill>
                <a:latin typeface="Avenir Next"/>
                <a:ea typeface="Avenir Next"/>
                <a:cs typeface="Avenir Next"/>
              </a:defRPr>
            </a:lvl8pPr>
            <a:lvl9pPr algn="ctr">
              <a:defRPr sz="1050" b="1">
                <a:solidFill>
                  <a:srgbClr val="182341"/>
                </a:solidFill>
                <a:latin typeface="Avenir Next"/>
                <a:ea typeface="Avenir Next"/>
                <a:cs typeface="Avenir Next"/>
              </a:defRPr>
            </a:lvl9pPr>
          </a:lstStyle>
          <a:p xmlns:a="http://schemas.openxmlformats.org/drawingml/2006/main">
            <a:pPr algn="ctr">
              <a:defRPr sz="1050" b="1">
                <a:solidFill>
                  <a:srgbClr val="182341"/>
                </a:solidFill>
                <a:latin typeface="Avenir Next"/>
                <a:ea typeface="Avenir Next"/>
                <a:cs typeface="Avenir Next"/>
              </a:defRPr>
            </a:pPr>
            <a:r>
              <a:rPr sz="1050" b="1">
                <a:solidFill>
                  <a:srgbClr val="182341"/>
                </a:solidFill>
                <a:latin typeface="Avenir Next"/>
                <a:ea typeface="Avenir Next"/>
                <a:cs typeface="Avenir Next"/>
              </a:rPr>
              <a:t>Roam: bold names make booths easy to scan.</a:t>
            </a:r>
          </a:p>
        </p:txBody>
      </p:sp>
    </p:spTree>
    <p:extLst>
      <p:ext uri="{BB962C8B-B14F-4D97-AF65-F5344CB8AC3E}">
        <p14:creationId xmlns:p14="http://schemas.microsoft.com/office/powerpoint/2010/main" val="618701521"/>
      </p:ext>
    </p:extLst>
  </p:cSld>
</p:sld>
</file>

<file path=ppt/slides/slide2.xml><?xml version="1.0" encoding="utf-8"?>
<p:sld xmlns:p="http://schemas.openxmlformats.org/presentationml/2006/main">
  <p:cSld>
    <p:bg>
      <p:bgPr>
        <a:solidFill xmlns:a="http://schemas.openxmlformats.org/drawingml/2006/main">
          <a:srgbClr val="121D3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8827AEA-F956-4DD5-86FF-E97B117CD190}"/>
              </a:ext>
            </a:extLst>
          </p:cNvPr>
          <p:cNvSpPr>
            <a:spLocks xmlns:a="http://schemas.openxmlformats.org/drawingml/2006/main" noGrp="1"/>
          </p:cNvSpPr>
          <p:nvPr/>
        </p:nvSpPr>
        <p:spPr>
          <a:xfrm xmlns:a="http://schemas.openxmlformats.org/drawingml/2006/main">
            <a:off x="457200" y="28575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925" b="1">
                <a:solidFill>
                  <a:srgbClr val="F8F7F3"/>
                </a:solidFill>
                <a:latin typeface="Avenir Next"/>
                <a:ea typeface="Avenir Next"/>
                <a:cs typeface="Avenir Next"/>
              </a:defRPr>
            </a:defPPr>
            <a:lvl1pPr>
              <a:defRPr sz="2925" b="1">
                <a:solidFill>
                  <a:srgbClr val="F8F7F3"/>
                </a:solidFill>
                <a:latin typeface="Avenir Next"/>
                <a:ea typeface="Avenir Next"/>
                <a:cs typeface="Avenir Next"/>
              </a:defRPr>
            </a:lvl1pPr>
            <a:lvl2pPr>
              <a:defRPr sz="2925" b="1">
                <a:solidFill>
                  <a:srgbClr val="F8F7F3"/>
                </a:solidFill>
                <a:latin typeface="Avenir Next"/>
                <a:ea typeface="Avenir Next"/>
                <a:cs typeface="Avenir Next"/>
              </a:defRPr>
            </a:lvl2pPr>
            <a:lvl3pPr>
              <a:defRPr sz="2925" b="1">
                <a:solidFill>
                  <a:srgbClr val="F8F7F3"/>
                </a:solidFill>
                <a:latin typeface="Avenir Next"/>
                <a:ea typeface="Avenir Next"/>
                <a:cs typeface="Avenir Next"/>
              </a:defRPr>
            </a:lvl3pPr>
            <a:lvl4pPr>
              <a:defRPr sz="2925" b="1">
                <a:solidFill>
                  <a:srgbClr val="F8F7F3"/>
                </a:solidFill>
                <a:latin typeface="Avenir Next"/>
                <a:ea typeface="Avenir Next"/>
                <a:cs typeface="Avenir Next"/>
              </a:defRPr>
            </a:lvl4pPr>
            <a:lvl5pPr>
              <a:defRPr sz="2925" b="1">
                <a:solidFill>
                  <a:srgbClr val="F8F7F3"/>
                </a:solidFill>
                <a:latin typeface="Avenir Next"/>
                <a:ea typeface="Avenir Next"/>
                <a:cs typeface="Avenir Next"/>
              </a:defRPr>
            </a:lvl5pPr>
            <a:lvl6pPr>
              <a:defRPr sz="2925" b="1">
                <a:solidFill>
                  <a:srgbClr val="F8F7F3"/>
                </a:solidFill>
                <a:latin typeface="Avenir Next"/>
                <a:ea typeface="Avenir Next"/>
                <a:cs typeface="Avenir Next"/>
              </a:defRPr>
            </a:lvl6pPr>
            <a:lvl7pPr>
              <a:defRPr sz="2925" b="1">
                <a:solidFill>
                  <a:srgbClr val="F8F7F3"/>
                </a:solidFill>
                <a:latin typeface="Avenir Next"/>
                <a:ea typeface="Avenir Next"/>
                <a:cs typeface="Avenir Next"/>
              </a:defRPr>
            </a:lvl7pPr>
            <a:lvl8pPr>
              <a:defRPr sz="2925" b="1">
                <a:solidFill>
                  <a:srgbClr val="F8F7F3"/>
                </a:solidFill>
                <a:latin typeface="Avenir Next"/>
                <a:ea typeface="Avenir Next"/>
                <a:cs typeface="Avenir Next"/>
              </a:defRPr>
            </a:lvl8pPr>
            <a:lvl9pPr>
              <a:defRPr sz="2925" b="1">
                <a:solidFill>
                  <a:srgbClr val="F8F7F3"/>
                </a:solidFill>
                <a:latin typeface="Avenir Next"/>
                <a:ea typeface="Avenir Next"/>
                <a:cs typeface="Avenir Next"/>
              </a:defRPr>
            </a:lvl9pPr>
          </a:lstStyle>
          <a:p xmlns:a="http://schemas.openxmlformats.org/drawingml/2006/main">
            <a:pPr>
              <a:buNone/>
              <a:defRPr sz="2925" b="1">
                <a:solidFill>
                  <a:srgbClr val="F8F7F3"/>
                </a:solidFill>
                <a:latin typeface="Avenir Next"/>
                <a:ea typeface="Avenir Next"/>
                <a:cs typeface="Avenir Next"/>
              </a:defRPr>
            </a:pPr>
            <a:r>
              <a:rPr sz="2925" b="1">
                <a:solidFill>
                  <a:srgbClr val="F8F7F3"/>
                </a:solidFill>
                <a:latin typeface="Avenir Next"/>
                <a:ea typeface="Avenir Next"/>
                <a:cs typeface="Avenir Next"/>
              </a:rPr>
              <a:t>COLOR</a:t>
            </a:r>
          </a:p>
        </p:txBody>
      </p:sp>
      <p:sp>
        <p:nvSpPr>
          <p:cNvPr id="2" name="">
            <a:extLst xmlns:a="http://schemas.openxmlformats.org/drawingml/2006/main">
              <a:ext uri="{FF2B5EF4-FFF2-40B4-BE49-F238E27FC236}">
                <a16:creationId xmlns:a16="http://schemas.microsoft.com/office/drawing/2014/main" id="{F9AFA9E0-6DD1-4AAB-AF76-E4E6A631B446}"/>
              </a:ext>
            </a:extLst>
          </p:cNvPr>
          <p:cNvSpPr>
            <a:spLocks xmlns:a="http://schemas.openxmlformats.org/drawingml/2006/main" noGrp="1"/>
          </p:cNvSpPr>
          <p:nvPr/>
        </p:nvSpPr>
        <p:spPr>
          <a:xfrm xmlns:a="http://schemas.openxmlformats.org/drawingml/2006/main">
            <a:off x="466725" y="80962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C9D4EA"/>
                </a:solidFill>
                <a:latin typeface="Avenir Next"/>
                <a:ea typeface="Avenir Next"/>
                <a:cs typeface="Avenir Next"/>
              </a:defRPr>
            </a:defPPr>
            <a:lvl1pPr>
              <a:defRPr sz="1500" b="0">
                <a:solidFill>
                  <a:srgbClr val="C9D4EA"/>
                </a:solidFill>
                <a:latin typeface="Avenir Next"/>
                <a:ea typeface="Avenir Next"/>
                <a:cs typeface="Avenir Next"/>
              </a:defRPr>
            </a:lvl1pPr>
            <a:lvl2pPr>
              <a:defRPr sz="1500" b="0">
                <a:solidFill>
                  <a:srgbClr val="C9D4EA"/>
                </a:solidFill>
                <a:latin typeface="Avenir Next"/>
                <a:ea typeface="Avenir Next"/>
                <a:cs typeface="Avenir Next"/>
              </a:defRPr>
            </a:lvl2pPr>
            <a:lvl3pPr>
              <a:defRPr sz="1500" b="0">
                <a:solidFill>
                  <a:srgbClr val="C9D4EA"/>
                </a:solidFill>
                <a:latin typeface="Avenir Next"/>
                <a:ea typeface="Avenir Next"/>
                <a:cs typeface="Avenir Next"/>
              </a:defRPr>
            </a:lvl3pPr>
            <a:lvl4pPr>
              <a:defRPr sz="1500" b="0">
                <a:solidFill>
                  <a:srgbClr val="C9D4EA"/>
                </a:solidFill>
                <a:latin typeface="Avenir Next"/>
                <a:ea typeface="Avenir Next"/>
                <a:cs typeface="Avenir Next"/>
              </a:defRPr>
            </a:lvl4pPr>
            <a:lvl5pPr>
              <a:defRPr sz="1500" b="0">
                <a:solidFill>
                  <a:srgbClr val="C9D4EA"/>
                </a:solidFill>
                <a:latin typeface="Avenir Next"/>
                <a:ea typeface="Avenir Next"/>
                <a:cs typeface="Avenir Next"/>
              </a:defRPr>
            </a:lvl5pPr>
            <a:lvl6pPr>
              <a:defRPr sz="1500" b="0">
                <a:solidFill>
                  <a:srgbClr val="C9D4EA"/>
                </a:solidFill>
                <a:latin typeface="Avenir Next"/>
                <a:ea typeface="Avenir Next"/>
                <a:cs typeface="Avenir Next"/>
              </a:defRPr>
            </a:lvl6pPr>
            <a:lvl7pPr>
              <a:defRPr sz="1500" b="0">
                <a:solidFill>
                  <a:srgbClr val="C9D4EA"/>
                </a:solidFill>
                <a:latin typeface="Avenir Next"/>
                <a:ea typeface="Avenir Next"/>
                <a:cs typeface="Avenir Next"/>
              </a:defRPr>
            </a:lvl7pPr>
            <a:lvl8pPr>
              <a:defRPr sz="1500" b="0">
                <a:solidFill>
                  <a:srgbClr val="C9D4EA"/>
                </a:solidFill>
                <a:latin typeface="Avenir Next"/>
                <a:ea typeface="Avenir Next"/>
                <a:cs typeface="Avenir Next"/>
              </a:defRPr>
            </a:lvl8pPr>
            <a:lvl9pPr>
              <a:defRPr sz="1500" b="0">
                <a:solidFill>
                  <a:srgbClr val="C9D4EA"/>
                </a:solidFill>
                <a:latin typeface="Avenir Next"/>
                <a:ea typeface="Avenir Next"/>
                <a:cs typeface="Avenir Next"/>
              </a:defRPr>
            </a:lvl9pPr>
          </a:lstStyle>
          <a:p xmlns:a="http://schemas.openxmlformats.org/drawingml/2006/main">
            <a:pPr>
              <a:buNone/>
              <a:defRPr sz="1500" b="0">
                <a:solidFill>
                  <a:srgbClr val="C9D4EA"/>
                </a:solidFill>
                <a:latin typeface="Avenir Next"/>
                <a:ea typeface="Avenir Next"/>
                <a:cs typeface="Avenir Next"/>
              </a:defRPr>
            </a:pPr>
            <a:r>
              <a:rPr sz="1500" b="0">
                <a:solidFill>
                  <a:srgbClr val="C9D4EA"/>
                </a:solidFill>
                <a:latin typeface="Avenir Next"/>
                <a:ea typeface="Avenir Next"/>
                <a:cs typeface="Avenir Next"/>
              </a:rPr>
              <a:t>Playful and chill, with dark blue as the base</a:t>
            </a:r>
          </a:p>
        </p:txBody>
      </p:sp>
      <p:sp>
        <p:nvSpPr>
          <p:cNvPr id="3" name="">
            <a:extLst xmlns:a="http://schemas.openxmlformats.org/drawingml/2006/main">
              <a:ext uri="{FF2B5EF4-FFF2-40B4-BE49-F238E27FC236}">
                <a16:creationId xmlns:a16="http://schemas.microsoft.com/office/drawing/2014/main" id="{368E9092-7193-47D5-85B8-08C08FB394A3}"/>
              </a:ext>
            </a:extLst>
          </p:cNvPr>
          <p:cNvSpPr>
            <a:spLocks xmlns:a="http://schemas.openxmlformats.org/drawingml/2006/main" noGrp="1"/>
          </p:cNvSpPr>
          <p:nvPr/>
        </p:nvSpPr>
        <p:spPr>
          <a:xfrm xmlns:a="http://schemas.openxmlformats.org/drawingml/2006/main">
            <a:off x="457200" y="1123950"/>
            <a:ext cx="11277600" cy="19050"/>
          </a:xfrm>
          <a:prstGeom xmlns:a="http://schemas.openxmlformats.org/drawingml/2006/main" prst="rect">
            <a:avLst/>
          </a:prstGeom>
          <a:solidFill xmlns:a="http://schemas.openxmlformats.org/drawingml/2006/main">
            <a:srgbClr val="526486"/>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9C52800E-930F-485B-8A27-D696C708F7D9}"/>
              </a:ext>
            </a:extLst>
          </p:cNvPr>
          <p:cNvPicPr>
            <a:picLocks xmlns:a="http://schemas.openxmlformats.org/drawingml/2006/main" noChangeAspect="1"/>
          </p:cNvPicPr>
          <p:nvPr/>
        </p:nvPicPr>
        <p:blipFill>
          <a:blip xmlns:r="http://schemas.openxmlformats.org/officeDocument/2006/relationships" xmlns:a="http://schemas.openxmlformats.org/drawingml/2006/main" r:embed="R282c0df663984fb0"/>
          <a:srcRect xmlns:a="http://schemas.openxmlformats.org/drawingml/2006/main" l="0" t="6225" r="0" b="6225"/>
          <a:stretch xmlns:a="http://schemas.openxmlformats.org/drawingml/2006/main">
            <a:fillRect l="0" t="0" r="0" b="0"/>
          </a:stretch>
        </p:blipFill>
        <p:spPr>
          <a:xfrm xmlns:a="http://schemas.openxmlformats.org/drawingml/2006/main">
            <a:off x="457200" y="1314450"/>
            <a:ext cx="2695575" cy="20764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FFD0720-87C4-45C9-AACE-CAB362894D20}"/>
              </a:ext>
            </a:extLst>
          </p:cNvPr>
          <p:cNvPicPr>
            <a:picLocks xmlns:a="http://schemas.openxmlformats.org/drawingml/2006/main" noChangeAspect="1"/>
          </p:cNvPicPr>
          <p:nvPr/>
        </p:nvPicPr>
        <p:blipFill>
          <a:blip xmlns:r="http://schemas.openxmlformats.org/officeDocument/2006/relationships" xmlns:a="http://schemas.openxmlformats.org/drawingml/2006/main" r:embed="Re51abf0bdfca40ac"/>
          <a:srcRect xmlns:a="http://schemas.openxmlformats.org/drawingml/2006/main" l="6713" t="0" r="6713" b="0"/>
          <a:stretch xmlns:a="http://schemas.openxmlformats.org/drawingml/2006/main">
            <a:fillRect l="0" t="0" r="0" b="0"/>
          </a:stretch>
        </p:blipFill>
        <p:spPr>
          <a:xfrm xmlns:a="http://schemas.openxmlformats.org/drawingml/2006/main">
            <a:off x="3267075" y="1314450"/>
            <a:ext cx="2695575" cy="20764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87E3707-C088-4CAC-9EEA-679F99DCEC6C}"/>
              </a:ext>
            </a:extLst>
          </p:cNvPr>
          <p:cNvPicPr>
            <a:picLocks xmlns:a="http://schemas.openxmlformats.org/drawingml/2006/main" noChangeAspect="1"/>
          </p:cNvPicPr>
          <p:nvPr/>
        </p:nvPicPr>
        <p:blipFill>
          <a:blip xmlns:r="http://schemas.openxmlformats.org/officeDocument/2006/relationships" xmlns:a="http://schemas.openxmlformats.org/drawingml/2006/main" r:embed="Rccf437bdf04d4ebe"/>
          <a:srcRect xmlns:a="http://schemas.openxmlformats.org/drawingml/2006/main" l="5657" t="0" r="5657" b="0"/>
          <a:stretch xmlns:a="http://schemas.openxmlformats.org/drawingml/2006/main">
            <a:fillRect l="0" t="0" r="0" b="0"/>
          </a:stretch>
        </p:blipFill>
        <p:spPr>
          <a:xfrm xmlns:a="http://schemas.openxmlformats.org/drawingml/2006/main">
            <a:off x="6076950" y="1314450"/>
            <a:ext cx="2762250" cy="2076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855D2A-FCC4-4B48-A392-3A435F8A5480}"/>
              </a:ext>
            </a:extLst>
          </p:cNvPr>
          <p:cNvSpPr>
            <a:spLocks xmlns:a="http://schemas.openxmlformats.org/drawingml/2006/main" noGrp="1"/>
          </p:cNvSpPr>
          <p:nvPr/>
        </p:nvSpPr>
        <p:spPr>
          <a:xfrm xmlns:a="http://schemas.openxmlformats.org/drawingml/2006/main">
            <a:off x="457200" y="3429000"/>
            <a:ext cx="2695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7E2F6"/>
                </a:solidFill>
                <a:latin typeface="Avenir Next"/>
                <a:ea typeface="Avenir Next"/>
                <a:cs typeface="Avenir Next"/>
              </a:defRPr>
            </a:defPPr>
            <a:lvl1pPr>
              <a:defRPr sz="975" b="1">
                <a:solidFill>
                  <a:srgbClr val="D7E2F6"/>
                </a:solidFill>
                <a:latin typeface="Avenir Next"/>
                <a:ea typeface="Avenir Next"/>
                <a:cs typeface="Avenir Next"/>
              </a:defRPr>
            </a:lvl1pPr>
            <a:lvl2pPr>
              <a:defRPr sz="975" b="1">
                <a:solidFill>
                  <a:srgbClr val="D7E2F6"/>
                </a:solidFill>
                <a:latin typeface="Avenir Next"/>
                <a:ea typeface="Avenir Next"/>
                <a:cs typeface="Avenir Next"/>
              </a:defRPr>
            </a:lvl2pPr>
            <a:lvl3pPr>
              <a:defRPr sz="975" b="1">
                <a:solidFill>
                  <a:srgbClr val="D7E2F6"/>
                </a:solidFill>
                <a:latin typeface="Avenir Next"/>
                <a:ea typeface="Avenir Next"/>
                <a:cs typeface="Avenir Next"/>
              </a:defRPr>
            </a:lvl3pPr>
            <a:lvl4pPr>
              <a:defRPr sz="975" b="1">
                <a:solidFill>
                  <a:srgbClr val="D7E2F6"/>
                </a:solidFill>
                <a:latin typeface="Avenir Next"/>
                <a:ea typeface="Avenir Next"/>
                <a:cs typeface="Avenir Next"/>
              </a:defRPr>
            </a:lvl4pPr>
            <a:lvl5pPr>
              <a:defRPr sz="975" b="1">
                <a:solidFill>
                  <a:srgbClr val="D7E2F6"/>
                </a:solidFill>
                <a:latin typeface="Avenir Next"/>
                <a:ea typeface="Avenir Next"/>
                <a:cs typeface="Avenir Next"/>
              </a:defRPr>
            </a:lvl5pPr>
            <a:lvl6pPr>
              <a:defRPr sz="975" b="1">
                <a:solidFill>
                  <a:srgbClr val="D7E2F6"/>
                </a:solidFill>
                <a:latin typeface="Avenir Next"/>
                <a:ea typeface="Avenir Next"/>
                <a:cs typeface="Avenir Next"/>
              </a:defRPr>
            </a:lvl6pPr>
            <a:lvl7pPr>
              <a:defRPr sz="975" b="1">
                <a:solidFill>
                  <a:srgbClr val="D7E2F6"/>
                </a:solidFill>
                <a:latin typeface="Avenir Next"/>
                <a:ea typeface="Avenir Next"/>
                <a:cs typeface="Avenir Next"/>
              </a:defRPr>
            </a:lvl7pPr>
            <a:lvl8pPr>
              <a:defRPr sz="975" b="1">
                <a:solidFill>
                  <a:srgbClr val="D7E2F6"/>
                </a:solidFill>
                <a:latin typeface="Avenir Next"/>
                <a:ea typeface="Avenir Next"/>
                <a:cs typeface="Avenir Next"/>
              </a:defRPr>
            </a:lvl8pPr>
            <a:lvl9pPr>
              <a:defRPr sz="975" b="1">
                <a:solidFill>
                  <a:srgbClr val="D7E2F6"/>
                </a:solidFill>
                <a:latin typeface="Avenir Next"/>
                <a:ea typeface="Avenir Next"/>
                <a:cs typeface="Avenir Next"/>
              </a:defRPr>
            </a:lvl9pPr>
          </a:lstStyle>
          <a:p xmlns:a="http://schemas.openxmlformats.org/drawingml/2006/main">
            <a:pPr>
              <a:buNone/>
              <a:defRPr sz="975" b="1">
                <a:solidFill>
                  <a:srgbClr val="D7E2F6"/>
                </a:solidFill>
                <a:latin typeface="Avenir Next"/>
                <a:ea typeface="Avenir Next"/>
                <a:cs typeface="Avenir Next"/>
              </a:defRPr>
            </a:pPr>
            <a:r>
              <a:rPr sz="975" b="1">
                <a:solidFill>
                  <a:srgbClr val="D7E2F6"/>
                </a:solidFill>
                <a:latin typeface="Avenir Next"/>
                <a:ea typeface="Avenir Next"/>
                <a:cs typeface="Avenir Next"/>
              </a:rPr>
              <a:t>1  Gimkit</a:t>
            </a:r>
          </a:p>
        </p:txBody>
      </p:sp>
      <p:sp>
        <p:nvSpPr>
          <p:cNvPr id="8" name="">
            <a:extLst xmlns:a="http://schemas.openxmlformats.org/drawingml/2006/main">
              <a:ext uri="{FF2B5EF4-FFF2-40B4-BE49-F238E27FC236}">
                <a16:creationId xmlns:a16="http://schemas.microsoft.com/office/drawing/2014/main" id="{D796E509-453C-4D96-BD07-C92559EC2C81}"/>
              </a:ext>
            </a:extLst>
          </p:cNvPr>
          <p:cNvSpPr>
            <a:spLocks xmlns:a="http://schemas.openxmlformats.org/drawingml/2006/main" noGrp="1"/>
          </p:cNvSpPr>
          <p:nvPr/>
        </p:nvSpPr>
        <p:spPr>
          <a:xfrm xmlns:a="http://schemas.openxmlformats.org/drawingml/2006/main">
            <a:off x="3267075" y="3429000"/>
            <a:ext cx="2695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7E2F6"/>
                </a:solidFill>
                <a:latin typeface="Avenir Next"/>
                <a:ea typeface="Avenir Next"/>
                <a:cs typeface="Avenir Next"/>
              </a:defRPr>
            </a:defPPr>
            <a:lvl1pPr>
              <a:defRPr sz="975" b="1">
                <a:solidFill>
                  <a:srgbClr val="D7E2F6"/>
                </a:solidFill>
                <a:latin typeface="Avenir Next"/>
                <a:ea typeface="Avenir Next"/>
                <a:cs typeface="Avenir Next"/>
              </a:defRPr>
            </a:lvl1pPr>
            <a:lvl2pPr>
              <a:defRPr sz="975" b="1">
                <a:solidFill>
                  <a:srgbClr val="D7E2F6"/>
                </a:solidFill>
                <a:latin typeface="Avenir Next"/>
                <a:ea typeface="Avenir Next"/>
                <a:cs typeface="Avenir Next"/>
              </a:defRPr>
            </a:lvl2pPr>
            <a:lvl3pPr>
              <a:defRPr sz="975" b="1">
                <a:solidFill>
                  <a:srgbClr val="D7E2F6"/>
                </a:solidFill>
                <a:latin typeface="Avenir Next"/>
                <a:ea typeface="Avenir Next"/>
                <a:cs typeface="Avenir Next"/>
              </a:defRPr>
            </a:lvl3pPr>
            <a:lvl4pPr>
              <a:defRPr sz="975" b="1">
                <a:solidFill>
                  <a:srgbClr val="D7E2F6"/>
                </a:solidFill>
                <a:latin typeface="Avenir Next"/>
                <a:ea typeface="Avenir Next"/>
                <a:cs typeface="Avenir Next"/>
              </a:defRPr>
            </a:lvl4pPr>
            <a:lvl5pPr>
              <a:defRPr sz="975" b="1">
                <a:solidFill>
                  <a:srgbClr val="D7E2F6"/>
                </a:solidFill>
                <a:latin typeface="Avenir Next"/>
                <a:ea typeface="Avenir Next"/>
                <a:cs typeface="Avenir Next"/>
              </a:defRPr>
            </a:lvl5pPr>
            <a:lvl6pPr>
              <a:defRPr sz="975" b="1">
                <a:solidFill>
                  <a:srgbClr val="D7E2F6"/>
                </a:solidFill>
                <a:latin typeface="Avenir Next"/>
                <a:ea typeface="Avenir Next"/>
                <a:cs typeface="Avenir Next"/>
              </a:defRPr>
            </a:lvl6pPr>
            <a:lvl7pPr>
              <a:defRPr sz="975" b="1">
                <a:solidFill>
                  <a:srgbClr val="D7E2F6"/>
                </a:solidFill>
                <a:latin typeface="Avenir Next"/>
                <a:ea typeface="Avenir Next"/>
                <a:cs typeface="Avenir Next"/>
              </a:defRPr>
            </a:lvl7pPr>
            <a:lvl8pPr>
              <a:defRPr sz="975" b="1">
                <a:solidFill>
                  <a:srgbClr val="D7E2F6"/>
                </a:solidFill>
                <a:latin typeface="Avenir Next"/>
                <a:ea typeface="Avenir Next"/>
                <a:cs typeface="Avenir Next"/>
              </a:defRPr>
            </a:lvl8pPr>
            <a:lvl9pPr>
              <a:defRPr sz="975" b="1">
                <a:solidFill>
                  <a:srgbClr val="D7E2F6"/>
                </a:solidFill>
                <a:latin typeface="Avenir Next"/>
                <a:ea typeface="Avenir Next"/>
                <a:cs typeface="Avenir Next"/>
              </a:defRPr>
            </a:lvl9pPr>
          </a:lstStyle>
          <a:p xmlns:a="http://schemas.openxmlformats.org/drawingml/2006/main">
            <a:pPr>
              <a:buNone/>
              <a:defRPr sz="975" b="1">
                <a:solidFill>
                  <a:srgbClr val="D7E2F6"/>
                </a:solidFill>
                <a:latin typeface="Avenir Next"/>
                <a:ea typeface="Avenir Next"/>
                <a:cs typeface="Avenir Next"/>
              </a:defRPr>
            </a:pPr>
            <a:r>
              <a:rPr sz="975" b="1">
                <a:solidFill>
                  <a:srgbClr val="D7E2F6"/>
                </a:solidFill>
                <a:latin typeface="Avenir Next"/>
                <a:ea typeface="Avenir Next"/>
                <a:cs typeface="Avenir Next"/>
              </a:rPr>
              <a:t>2  Pixel art map</a:t>
            </a:r>
          </a:p>
        </p:txBody>
      </p:sp>
      <p:sp>
        <p:nvSpPr>
          <p:cNvPr id="9" name="">
            <a:extLst xmlns:a="http://schemas.openxmlformats.org/drawingml/2006/main">
              <a:ext uri="{FF2B5EF4-FFF2-40B4-BE49-F238E27FC236}">
                <a16:creationId xmlns:a16="http://schemas.microsoft.com/office/drawing/2014/main" id="{EACEC6A2-3471-4588-948A-1D7C2AC7450F}"/>
              </a:ext>
            </a:extLst>
          </p:cNvPr>
          <p:cNvSpPr>
            <a:spLocks xmlns:a="http://schemas.openxmlformats.org/drawingml/2006/main" noGrp="1"/>
          </p:cNvSpPr>
          <p:nvPr/>
        </p:nvSpPr>
        <p:spPr>
          <a:xfrm xmlns:a="http://schemas.openxmlformats.org/drawingml/2006/main">
            <a:off x="6076950" y="34290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7E2F6"/>
                </a:solidFill>
                <a:latin typeface="Avenir Next"/>
                <a:ea typeface="Avenir Next"/>
                <a:cs typeface="Avenir Next"/>
              </a:defRPr>
            </a:defPPr>
            <a:lvl1pPr>
              <a:defRPr sz="975" b="1">
                <a:solidFill>
                  <a:srgbClr val="D7E2F6"/>
                </a:solidFill>
                <a:latin typeface="Avenir Next"/>
                <a:ea typeface="Avenir Next"/>
                <a:cs typeface="Avenir Next"/>
              </a:defRPr>
            </a:lvl1pPr>
            <a:lvl2pPr>
              <a:defRPr sz="975" b="1">
                <a:solidFill>
                  <a:srgbClr val="D7E2F6"/>
                </a:solidFill>
                <a:latin typeface="Avenir Next"/>
                <a:ea typeface="Avenir Next"/>
                <a:cs typeface="Avenir Next"/>
              </a:defRPr>
            </a:lvl2pPr>
            <a:lvl3pPr>
              <a:defRPr sz="975" b="1">
                <a:solidFill>
                  <a:srgbClr val="D7E2F6"/>
                </a:solidFill>
                <a:latin typeface="Avenir Next"/>
                <a:ea typeface="Avenir Next"/>
                <a:cs typeface="Avenir Next"/>
              </a:defRPr>
            </a:lvl3pPr>
            <a:lvl4pPr>
              <a:defRPr sz="975" b="1">
                <a:solidFill>
                  <a:srgbClr val="D7E2F6"/>
                </a:solidFill>
                <a:latin typeface="Avenir Next"/>
                <a:ea typeface="Avenir Next"/>
                <a:cs typeface="Avenir Next"/>
              </a:defRPr>
            </a:lvl4pPr>
            <a:lvl5pPr>
              <a:defRPr sz="975" b="1">
                <a:solidFill>
                  <a:srgbClr val="D7E2F6"/>
                </a:solidFill>
                <a:latin typeface="Avenir Next"/>
                <a:ea typeface="Avenir Next"/>
                <a:cs typeface="Avenir Next"/>
              </a:defRPr>
            </a:lvl5pPr>
            <a:lvl6pPr>
              <a:defRPr sz="975" b="1">
                <a:solidFill>
                  <a:srgbClr val="D7E2F6"/>
                </a:solidFill>
                <a:latin typeface="Avenir Next"/>
                <a:ea typeface="Avenir Next"/>
                <a:cs typeface="Avenir Next"/>
              </a:defRPr>
            </a:lvl6pPr>
            <a:lvl7pPr>
              <a:defRPr sz="975" b="1">
                <a:solidFill>
                  <a:srgbClr val="D7E2F6"/>
                </a:solidFill>
                <a:latin typeface="Avenir Next"/>
                <a:ea typeface="Avenir Next"/>
                <a:cs typeface="Avenir Next"/>
              </a:defRPr>
            </a:lvl7pPr>
            <a:lvl8pPr>
              <a:defRPr sz="975" b="1">
                <a:solidFill>
                  <a:srgbClr val="D7E2F6"/>
                </a:solidFill>
                <a:latin typeface="Avenir Next"/>
                <a:ea typeface="Avenir Next"/>
                <a:cs typeface="Avenir Next"/>
              </a:defRPr>
            </a:lvl8pPr>
            <a:lvl9pPr>
              <a:defRPr sz="975" b="1">
                <a:solidFill>
                  <a:srgbClr val="D7E2F6"/>
                </a:solidFill>
                <a:latin typeface="Avenir Next"/>
                <a:ea typeface="Avenir Next"/>
                <a:cs typeface="Avenir Next"/>
              </a:defRPr>
            </a:lvl9pPr>
          </a:lstStyle>
          <a:p xmlns:a="http://schemas.openxmlformats.org/drawingml/2006/main">
            <a:pPr>
              <a:buNone/>
              <a:defRPr sz="975" b="1">
                <a:solidFill>
                  <a:srgbClr val="D7E2F6"/>
                </a:solidFill>
                <a:latin typeface="Avenir Next"/>
                <a:ea typeface="Avenir Next"/>
                <a:cs typeface="Avenir Next"/>
              </a:defRPr>
            </a:pPr>
            <a:r>
              <a:rPr sz="975" b="1">
                <a:solidFill>
                  <a:srgbClr val="D7E2F6"/>
                </a:solidFill>
                <a:latin typeface="Avenir Next"/>
                <a:ea typeface="Avenir Next"/>
                <a:cs typeface="Avenir Next"/>
              </a:rPr>
              <a:t>3  Pixel art rooms</a:t>
            </a:r>
          </a:p>
        </p:txBody>
      </p:sp>
      <p:pic>
        <p:nvPicPr>
          <p:cNvPr id="10" name="">
            <a:extLst xmlns:a="http://schemas.openxmlformats.org/drawingml/2006/main">
              <a:ext uri="{FF2B5EF4-FFF2-40B4-BE49-F238E27FC236}">
                <a16:creationId xmlns:a16="http://schemas.microsoft.com/office/drawing/2014/main" id="{C6928434-102A-4BB3-BF4F-816C0220BA65}"/>
              </a:ext>
            </a:extLst>
          </p:cNvPr>
          <p:cNvPicPr>
            <a:picLocks xmlns:a="http://schemas.openxmlformats.org/drawingml/2006/main" noChangeAspect="1"/>
          </p:cNvPicPr>
          <p:nvPr/>
        </p:nvPicPr>
        <p:blipFill>
          <a:blip xmlns:r="http://schemas.openxmlformats.org/officeDocument/2006/relationships" xmlns:a="http://schemas.openxmlformats.org/drawingml/2006/main" r:embed="R45e0c06f8f1c45ba"/>
          <a:srcRect xmlns:a="http://schemas.openxmlformats.org/drawingml/2006/main" l="743" t="0" r="743" b="0"/>
          <a:stretch xmlns:a="http://schemas.openxmlformats.org/drawingml/2006/main">
            <a:fillRect l="0" t="0" r="0" b="0"/>
          </a:stretch>
        </p:blipFill>
        <p:spPr>
          <a:xfrm xmlns:a="http://schemas.openxmlformats.org/drawingml/2006/main">
            <a:off x="457200" y="3810000"/>
            <a:ext cx="2695575" cy="20764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F998BFA-4442-4649-A05A-BC1E8D646F7C}"/>
              </a:ext>
            </a:extLst>
          </p:cNvPr>
          <p:cNvPicPr>
            <a:picLocks xmlns:a="http://schemas.openxmlformats.org/drawingml/2006/main" noChangeAspect="1"/>
          </p:cNvPicPr>
          <p:nvPr/>
        </p:nvPicPr>
        <p:blipFill>
          <a:blip xmlns:r="http://schemas.openxmlformats.org/officeDocument/2006/relationships" xmlns:a="http://schemas.openxmlformats.org/drawingml/2006/main" r:embed="R3bf2d497ca8d4f4e"/>
          <a:srcRect xmlns:a="http://schemas.openxmlformats.org/drawingml/2006/main" l="0" t="18894" r="0" b="18894"/>
          <a:stretch xmlns:a="http://schemas.openxmlformats.org/drawingml/2006/main">
            <a:fillRect l="0" t="0" r="0" b="0"/>
          </a:stretch>
        </p:blipFill>
        <p:spPr>
          <a:xfrm xmlns:a="http://schemas.openxmlformats.org/drawingml/2006/main">
            <a:off x="3267075" y="3810000"/>
            <a:ext cx="5572125" cy="2076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7559645-BA58-4C5D-AD5A-FC6C02B31804}"/>
              </a:ext>
            </a:extLst>
          </p:cNvPr>
          <p:cNvSpPr>
            <a:spLocks xmlns:a="http://schemas.openxmlformats.org/drawingml/2006/main" noGrp="1"/>
          </p:cNvSpPr>
          <p:nvPr/>
        </p:nvSpPr>
        <p:spPr>
          <a:xfrm xmlns:a="http://schemas.openxmlformats.org/drawingml/2006/main">
            <a:off x="457200" y="5934075"/>
            <a:ext cx="2695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7E2F6"/>
                </a:solidFill>
                <a:latin typeface="Avenir Next"/>
                <a:ea typeface="Avenir Next"/>
                <a:cs typeface="Avenir Next"/>
              </a:defRPr>
            </a:defPPr>
            <a:lvl1pPr>
              <a:defRPr sz="975" b="1">
                <a:solidFill>
                  <a:srgbClr val="D7E2F6"/>
                </a:solidFill>
                <a:latin typeface="Avenir Next"/>
                <a:ea typeface="Avenir Next"/>
                <a:cs typeface="Avenir Next"/>
              </a:defRPr>
            </a:lvl1pPr>
            <a:lvl2pPr>
              <a:defRPr sz="975" b="1">
                <a:solidFill>
                  <a:srgbClr val="D7E2F6"/>
                </a:solidFill>
                <a:latin typeface="Avenir Next"/>
                <a:ea typeface="Avenir Next"/>
                <a:cs typeface="Avenir Next"/>
              </a:defRPr>
            </a:lvl2pPr>
            <a:lvl3pPr>
              <a:defRPr sz="975" b="1">
                <a:solidFill>
                  <a:srgbClr val="D7E2F6"/>
                </a:solidFill>
                <a:latin typeface="Avenir Next"/>
                <a:ea typeface="Avenir Next"/>
                <a:cs typeface="Avenir Next"/>
              </a:defRPr>
            </a:lvl3pPr>
            <a:lvl4pPr>
              <a:defRPr sz="975" b="1">
                <a:solidFill>
                  <a:srgbClr val="D7E2F6"/>
                </a:solidFill>
                <a:latin typeface="Avenir Next"/>
                <a:ea typeface="Avenir Next"/>
                <a:cs typeface="Avenir Next"/>
              </a:defRPr>
            </a:lvl4pPr>
            <a:lvl5pPr>
              <a:defRPr sz="975" b="1">
                <a:solidFill>
                  <a:srgbClr val="D7E2F6"/>
                </a:solidFill>
                <a:latin typeface="Avenir Next"/>
                <a:ea typeface="Avenir Next"/>
                <a:cs typeface="Avenir Next"/>
              </a:defRPr>
            </a:lvl5pPr>
            <a:lvl6pPr>
              <a:defRPr sz="975" b="1">
                <a:solidFill>
                  <a:srgbClr val="D7E2F6"/>
                </a:solidFill>
                <a:latin typeface="Avenir Next"/>
                <a:ea typeface="Avenir Next"/>
                <a:cs typeface="Avenir Next"/>
              </a:defRPr>
            </a:lvl6pPr>
            <a:lvl7pPr>
              <a:defRPr sz="975" b="1">
                <a:solidFill>
                  <a:srgbClr val="D7E2F6"/>
                </a:solidFill>
                <a:latin typeface="Avenir Next"/>
                <a:ea typeface="Avenir Next"/>
                <a:cs typeface="Avenir Next"/>
              </a:defRPr>
            </a:lvl7pPr>
            <a:lvl8pPr>
              <a:defRPr sz="975" b="1">
                <a:solidFill>
                  <a:srgbClr val="D7E2F6"/>
                </a:solidFill>
                <a:latin typeface="Avenir Next"/>
                <a:ea typeface="Avenir Next"/>
                <a:cs typeface="Avenir Next"/>
              </a:defRPr>
            </a:lvl8pPr>
            <a:lvl9pPr>
              <a:defRPr sz="975" b="1">
                <a:solidFill>
                  <a:srgbClr val="D7E2F6"/>
                </a:solidFill>
                <a:latin typeface="Avenir Next"/>
                <a:ea typeface="Avenir Next"/>
                <a:cs typeface="Avenir Next"/>
              </a:defRPr>
            </a:lvl9pPr>
          </a:lstStyle>
          <a:p xmlns:a="http://schemas.openxmlformats.org/drawingml/2006/main">
            <a:pPr>
              <a:buNone/>
              <a:defRPr sz="975" b="1">
                <a:solidFill>
                  <a:srgbClr val="D7E2F6"/>
                </a:solidFill>
                <a:latin typeface="Avenir Next"/>
                <a:ea typeface="Avenir Next"/>
                <a:cs typeface="Avenir Next"/>
              </a:defRPr>
            </a:pPr>
            <a:r>
              <a:rPr sz="975" b="1">
                <a:solidFill>
                  <a:srgbClr val="D7E2F6"/>
                </a:solidFill>
                <a:latin typeface="Avenir Next"/>
                <a:ea typeface="Avenir Next"/>
                <a:cs typeface="Avenir Next"/>
              </a:rPr>
              <a:t>4  Kahoot</a:t>
            </a:r>
          </a:p>
        </p:txBody>
      </p:sp>
      <p:sp>
        <p:nvSpPr>
          <p:cNvPr id="13" name="">
            <a:extLst xmlns:a="http://schemas.openxmlformats.org/drawingml/2006/main">
              <a:ext uri="{FF2B5EF4-FFF2-40B4-BE49-F238E27FC236}">
                <a16:creationId xmlns:a16="http://schemas.microsoft.com/office/drawing/2014/main" id="{E541E102-B37C-4E20-B9A2-15902B4A9694}"/>
              </a:ext>
            </a:extLst>
          </p:cNvPr>
          <p:cNvSpPr>
            <a:spLocks xmlns:a="http://schemas.openxmlformats.org/drawingml/2006/main" noGrp="1"/>
          </p:cNvSpPr>
          <p:nvPr/>
        </p:nvSpPr>
        <p:spPr>
          <a:xfrm xmlns:a="http://schemas.openxmlformats.org/drawingml/2006/main">
            <a:off x="3267075" y="5934075"/>
            <a:ext cx="5572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D7E2F6"/>
                </a:solidFill>
                <a:latin typeface="Avenir Next"/>
                <a:ea typeface="Avenir Next"/>
                <a:cs typeface="Avenir Next"/>
              </a:defRPr>
            </a:defPPr>
            <a:lvl1pPr>
              <a:defRPr sz="975" b="1">
                <a:solidFill>
                  <a:srgbClr val="D7E2F6"/>
                </a:solidFill>
                <a:latin typeface="Avenir Next"/>
                <a:ea typeface="Avenir Next"/>
                <a:cs typeface="Avenir Next"/>
              </a:defRPr>
            </a:lvl1pPr>
            <a:lvl2pPr>
              <a:defRPr sz="975" b="1">
                <a:solidFill>
                  <a:srgbClr val="D7E2F6"/>
                </a:solidFill>
                <a:latin typeface="Avenir Next"/>
                <a:ea typeface="Avenir Next"/>
                <a:cs typeface="Avenir Next"/>
              </a:defRPr>
            </a:lvl2pPr>
            <a:lvl3pPr>
              <a:defRPr sz="975" b="1">
                <a:solidFill>
                  <a:srgbClr val="D7E2F6"/>
                </a:solidFill>
                <a:latin typeface="Avenir Next"/>
                <a:ea typeface="Avenir Next"/>
                <a:cs typeface="Avenir Next"/>
              </a:defRPr>
            </a:lvl3pPr>
            <a:lvl4pPr>
              <a:defRPr sz="975" b="1">
                <a:solidFill>
                  <a:srgbClr val="D7E2F6"/>
                </a:solidFill>
                <a:latin typeface="Avenir Next"/>
                <a:ea typeface="Avenir Next"/>
                <a:cs typeface="Avenir Next"/>
              </a:defRPr>
            </a:lvl4pPr>
            <a:lvl5pPr>
              <a:defRPr sz="975" b="1">
                <a:solidFill>
                  <a:srgbClr val="D7E2F6"/>
                </a:solidFill>
                <a:latin typeface="Avenir Next"/>
                <a:ea typeface="Avenir Next"/>
                <a:cs typeface="Avenir Next"/>
              </a:defRPr>
            </a:lvl5pPr>
            <a:lvl6pPr>
              <a:defRPr sz="975" b="1">
                <a:solidFill>
                  <a:srgbClr val="D7E2F6"/>
                </a:solidFill>
                <a:latin typeface="Avenir Next"/>
                <a:ea typeface="Avenir Next"/>
                <a:cs typeface="Avenir Next"/>
              </a:defRPr>
            </a:lvl6pPr>
            <a:lvl7pPr>
              <a:defRPr sz="975" b="1">
                <a:solidFill>
                  <a:srgbClr val="D7E2F6"/>
                </a:solidFill>
                <a:latin typeface="Avenir Next"/>
                <a:ea typeface="Avenir Next"/>
                <a:cs typeface="Avenir Next"/>
              </a:defRPr>
            </a:lvl7pPr>
            <a:lvl8pPr>
              <a:defRPr sz="975" b="1">
                <a:solidFill>
                  <a:srgbClr val="D7E2F6"/>
                </a:solidFill>
                <a:latin typeface="Avenir Next"/>
                <a:ea typeface="Avenir Next"/>
                <a:cs typeface="Avenir Next"/>
              </a:defRPr>
            </a:lvl8pPr>
            <a:lvl9pPr>
              <a:defRPr sz="975" b="1">
                <a:solidFill>
                  <a:srgbClr val="D7E2F6"/>
                </a:solidFill>
                <a:latin typeface="Avenir Next"/>
                <a:ea typeface="Avenir Next"/>
                <a:cs typeface="Avenir Next"/>
              </a:defRPr>
            </a:lvl9pPr>
          </a:lstStyle>
          <a:p xmlns:a="http://schemas.openxmlformats.org/drawingml/2006/main">
            <a:pPr>
              <a:buNone/>
              <a:defRPr sz="975" b="1">
                <a:solidFill>
                  <a:srgbClr val="D7E2F6"/>
                </a:solidFill>
                <a:latin typeface="Avenir Next"/>
                <a:ea typeface="Avenir Next"/>
                <a:cs typeface="Avenir Next"/>
              </a:defRPr>
            </a:pPr>
            <a:r>
              <a:rPr sz="975" b="1">
                <a:solidFill>
                  <a:srgbClr val="D7E2F6"/>
                </a:solidFill>
                <a:latin typeface="Avenir Next"/>
                <a:ea typeface="Avenir Next"/>
                <a:cs typeface="Avenir Next"/>
              </a:rPr>
              <a:t>5  Berlinale 2026</a:t>
            </a:r>
          </a:p>
        </p:txBody>
      </p:sp>
      <p:sp>
        <p:nvSpPr>
          <p:cNvPr id="14" name="">
            <a:extLst xmlns:a="http://schemas.openxmlformats.org/drawingml/2006/main">
              <a:ext uri="{FF2B5EF4-FFF2-40B4-BE49-F238E27FC236}">
                <a16:creationId xmlns:a16="http://schemas.microsoft.com/office/drawing/2014/main" id="{F5BCC348-FB21-48E0-A79E-FF45EC78F344}"/>
              </a:ext>
            </a:extLst>
          </p:cNvPr>
          <p:cNvSpPr>
            <a:spLocks xmlns:a="http://schemas.openxmlformats.org/drawingml/2006/main" noGrp="1"/>
          </p:cNvSpPr>
          <p:nvPr/>
        </p:nvSpPr>
        <p:spPr>
          <a:xfrm xmlns:a="http://schemas.openxmlformats.org/drawingml/2006/main">
            <a:off x="9248775" y="1314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FFFFF"/>
                </a:solidFill>
                <a:latin typeface="Avenir Next"/>
                <a:ea typeface="Avenir Next"/>
                <a:cs typeface="Avenir Next"/>
              </a:defRPr>
            </a:defPPr>
            <a:lvl1pPr>
              <a:defRPr sz="1275" b="1">
                <a:solidFill>
                  <a:srgbClr val="FFFFFF"/>
                </a:solidFill>
                <a:latin typeface="Avenir Next"/>
                <a:ea typeface="Avenir Next"/>
                <a:cs typeface="Avenir Next"/>
              </a:defRPr>
            </a:lvl1pPr>
            <a:lvl2pPr>
              <a:defRPr sz="1275" b="1">
                <a:solidFill>
                  <a:srgbClr val="FFFFFF"/>
                </a:solidFill>
                <a:latin typeface="Avenir Next"/>
                <a:ea typeface="Avenir Next"/>
                <a:cs typeface="Avenir Next"/>
              </a:defRPr>
            </a:lvl2pPr>
            <a:lvl3pPr>
              <a:defRPr sz="1275" b="1">
                <a:solidFill>
                  <a:srgbClr val="FFFFFF"/>
                </a:solidFill>
                <a:latin typeface="Avenir Next"/>
                <a:ea typeface="Avenir Next"/>
                <a:cs typeface="Avenir Next"/>
              </a:defRPr>
            </a:lvl3pPr>
            <a:lvl4pPr>
              <a:defRPr sz="1275" b="1">
                <a:solidFill>
                  <a:srgbClr val="FFFFFF"/>
                </a:solidFill>
                <a:latin typeface="Avenir Next"/>
                <a:ea typeface="Avenir Next"/>
                <a:cs typeface="Avenir Next"/>
              </a:defRPr>
            </a:lvl4pPr>
            <a:lvl5pPr>
              <a:defRPr sz="1275" b="1">
                <a:solidFill>
                  <a:srgbClr val="FFFFFF"/>
                </a:solidFill>
                <a:latin typeface="Avenir Next"/>
                <a:ea typeface="Avenir Next"/>
                <a:cs typeface="Avenir Next"/>
              </a:defRPr>
            </a:lvl5pPr>
            <a:lvl6pPr>
              <a:defRPr sz="1275" b="1">
                <a:solidFill>
                  <a:srgbClr val="FFFFFF"/>
                </a:solidFill>
                <a:latin typeface="Avenir Next"/>
                <a:ea typeface="Avenir Next"/>
                <a:cs typeface="Avenir Next"/>
              </a:defRPr>
            </a:lvl6pPr>
            <a:lvl7pPr>
              <a:defRPr sz="1275" b="1">
                <a:solidFill>
                  <a:srgbClr val="FFFFFF"/>
                </a:solidFill>
                <a:latin typeface="Avenir Next"/>
                <a:ea typeface="Avenir Next"/>
                <a:cs typeface="Avenir Next"/>
              </a:defRPr>
            </a:lvl7pPr>
            <a:lvl8pPr>
              <a:defRPr sz="1275" b="1">
                <a:solidFill>
                  <a:srgbClr val="FFFFFF"/>
                </a:solidFill>
                <a:latin typeface="Avenir Next"/>
                <a:ea typeface="Avenir Next"/>
                <a:cs typeface="Avenir Next"/>
              </a:defRPr>
            </a:lvl8pPr>
            <a:lvl9pPr>
              <a:defRPr sz="1275" b="1">
                <a:solidFill>
                  <a:srgbClr val="FFFFFF"/>
                </a:solidFill>
                <a:latin typeface="Avenir Next"/>
                <a:ea typeface="Avenir Next"/>
                <a:cs typeface="Avenir Next"/>
              </a:defRPr>
            </a:lvl9pPr>
          </a:lstStyle>
          <a:p xmlns:a="http://schemas.openxmlformats.org/drawingml/2006/main">
            <a:pPr>
              <a:buNone/>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WHAT I NOTICE</a:t>
            </a:r>
          </a:p>
        </p:txBody>
      </p:sp>
      <p:sp>
        <p:nvSpPr>
          <p:cNvPr id="15" name="">
            <a:extLst xmlns:a="http://schemas.openxmlformats.org/drawingml/2006/main">
              <a:ext uri="{FF2B5EF4-FFF2-40B4-BE49-F238E27FC236}">
                <a16:creationId xmlns:a16="http://schemas.microsoft.com/office/drawing/2014/main" id="{5B6EA4A7-01AA-431B-8037-3D7D23D0E54A}"/>
              </a:ext>
            </a:extLst>
          </p:cNvPr>
          <p:cNvSpPr>
            <a:spLocks xmlns:a="http://schemas.openxmlformats.org/drawingml/2006/main" noGrp="1"/>
          </p:cNvSpPr>
          <p:nvPr/>
        </p:nvSpPr>
        <p:spPr>
          <a:xfrm xmlns:a="http://schemas.openxmlformats.org/drawingml/2006/main">
            <a:off x="9248775" y="1695450"/>
            <a:ext cx="2428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0E7F6"/>
                </a:solidFill>
                <a:latin typeface="Avenir Next"/>
                <a:ea typeface="Avenir Next"/>
                <a:cs typeface="Avenir Next"/>
              </a:defRPr>
            </a:defPPr>
            <a:lvl1pPr>
              <a:defRPr sz="1350" b="0">
                <a:solidFill>
                  <a:srgbClr val="E0E7F6"/>
                </a:solidFill>
                <a:latin typeface="Avenir Next"/>
                <a:ea typeface="Avenir Next"/>
                <a:cs typeface="Avenir Next"/>
              </a:defRPr>
            </a:lvl1pPr>
            <a:lvl2pPr>
              <a:defRPr sz="1350" b="0">
                <a:solidFill>
                  <a:srgbClr val="E0E7F6"/>
                </a:solidFill>
                <a:latin typeface="Avenir Next"/>
                <a:ea typeface="Avenir Next"/>
                <a:cs typeface="Avenir Next"/>
              </a:defRPr>
            </a:lvl2pPr>
            <a:lvl3pPr>
              <a:defRPr sz="1350" b="0">
                <a:solidFill>
                  <a:srgbClr val="E0E7F6"/>
                </a:solidFill>
                <a:latin typeface="Avenir Next"/>
                <a:ea typeface="Avenir Next"/>
                <a:cs typeface="Avenir Next"/>
              </a:defRPr>
            </a:lvl3pPr>
            <a:lvl4pPr>
              <a:defRPr sz="1350" b="0">
                <a:solidFill>
                  <a:srgbClr val="E0E7F6"/>
                </a:solidFill>
                <a:latin typeface="Avenir Next"/>
                <a:ea typeface="Avenir Next"/>
                <a:cs typeface="Avenir Next"/>
              </a:defRPr>
            </a:lvl4pPr>
            <a:lvl5pPr>
              <a:defRPr sz="1350" b="0">
                <a:solidFill>
                  <a:srgbClr val="E0E7F6"/>
                </a:solidFill>
                <a:latin typeface="Avenir Next"/>
                <a:ea typeface="Avenir Next"/>
                <a:cs typeface="Avenir Next"/>
              </a:defRPr>
            </a:lvl5pPr>
            <a:lvl6pPr>
              <a:defRPr sz="1350" b="0">
                <a:solidFill>
                  <a:srgbClr val="E0E7F6"/>
                </a:solidFill>
                <a:latin typeface="Avenir Next"/>
                <a:ea typeface="Avenir Next"/>
                <a:cs typeface="Avenir Next"/>
              </a:defRPr>
            </a:lvl6pPr>
            <a:lvl7pPr>
              <a:defRPr sz="1350" b="0">
                <a:solidFill>
                  <a:srgbClr val="E0E7F6"/>
                </a:solidFill>
                <a:latin typeface="Avenir Next"/>
                <a:ea typeface="Avenir Next"/>
                <a:cs typeface="Avenir Next"/>
              </a:defRPr>
            </a:lvl7pPr>
            <a:lvl8pPr>
              <a:defRPr sz="1350" b="0">
                <a:solidFill>
                  <a:srgbClr val="E0E7F6"/>
                </a:solidFill>
                <a:latin typeface="Avenir Next"/>
                <a:ea typeface="Avenir Next"/>
                <a:cs typeface="Avenir Next"/>
              </a:defRPr>
            </a:lvl8pPr>
            <a:lvl9pPr>
              <a:defRPr sz="1350" b="0">
                <a:solidFill>
                  <a:srgbClr val="E0E7F6"/>
                </a:solidFill>
                <a:latin typeface="Avenir Next"/>
                <a:ea typeface="Avenir Next"/>
                <a:cs typeface="Avenir Next"/>
              </a:defRPr>
            </a:lvl9pPr>
          </a:lstStyle>
          <a:p xmlns:a="http://schemas.openxmlformats.org/drawingml/2006/main">
            <a:pPr>
              <a:buNone/>
              <a:defRPr sz="1350" b="0">
                <a:solidFill>
                  <a:srgbClr val="E0E7F6"/>
                </a:solidFill>
                <a:latin typeface="Avenir Next"/>
                <a:ea typeface="Avenir Next"/>
                <a:cs typeface="Avenir Next"/>
              </a:defRPr>
            </a:pPr>
            <a:r>
              <a:rPr sz="1350" b="0">
                <a:solidFill>
                  <a:srgbClr val="E0E7F6"/>
                </a:solidFill>
                <a:latin typeface="Avenir Next"/>
                <a:ea typeface="Avenir Next"/>
                <a:cs typeface="Avenir Next"/>
              </a:rPr>
              <a:t>1, 4  Dark backgrounds let one bright action stand out. The rest of the screen can stay calm.</a:t>
            </a:r>
          </a:p>
        </p:txBody>
      </p:sp>
      <p:sp>
        <p:nvSpPr>
          <p:cNvPr id="16" name="">
            <a:extLst xmlns:a="http://schemas.openxmlformats.org/drawingml/2006/main">
              <a:ext uri="{FF2B5EF4-FFF2-40B4-BE49-F238E27FC236}">
                <a16:creationId xmlns:a16="http://schemas.microsoft.com/office/drawing/2014/main" id="{D4C2140D-7152-4FDA-AACD-99EF7C610393}"/>
              </a:ext>
            </a:extLst>
          </p:cNvPr>
          <p:cNvSpPr>
            <a:spLocks xmlns:a="http://schemas.openxmlformats.org/drawingml/2006/main" noGrp="1"/>
          </p:cNvSpPr>
          <p:nvPr/>
        </p:nvSpPr>
        <p:spPr>
          <a:xfrm xmlns:a="http://schemas.openxmlformats.org/drawingml/2006/main">
            <a:off x="9248775" y="2733675"/>
            <a:ext cx="2428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0E7F6"/>
                </a:solidFill>
                <a:latin typeface="Avenir Next"/>
                <a:ea typeface="Avenir Next"/>
                <a:cs typeface="Avenir Next"/>
              </a:defRPr>
            </a:defPPr>
            <a:lvl1pPr>
              <a:defRPr sz="1350" b="0">
                <a:solidFill>
                  <a:srgbClr val="E0E7F6"/>
                </a:solidFill>
                <a:latin typeface="Avenir Next"/>
                <a:ea typeface="Avenir Next"/>
                <a:cs typeface="Avenir Next"/>
              </a:defRPr>
            </a:lvl1pPr>
            <a:lvl2pPr>
              <a:defRPr sz="1350" b="0">
                <a:solidFill>
                  <a:srgbClr val="E0E7F6"/>
                </a:solidFill>
                <a:latin typeface="Avenir Next"/>
                <a:ea typeface="Avenir Next"/>
                <a:cs typeface="Avenir Next"/>
              </a:defRPr>
            </a:lvl2pPr>
            <a:lvl3pPr>
              <a:defRPr sz="1350" b="0">
                <a:solidFill>
                  <a:srgbClr val="E0E7F6"/>
                </a:solidFill>
                <a:latin typeface="Avenir Next"/>
                <a:ea typeface="Avenir Next"/>
                <a:cs typeface="Avenir Next"/>
              </a:defRPr>
            </a:lvl3pPr>
            <a:lvl4pPr>
              <a:defRPr sz="1350" b="0">
                <a:solidFill>
                  <a:srgbClr val="E0E7F6"/>
                </a:solidFill>
                <a:latin typeface="Avenir Next"/>
                <a:ea typeface="Avenir Next"/>
                <a:cs typeface="Avenir Next"/>
              </a:defRPr>
            </a:lvl4pPr>
            <a:lvl5pPr>
              <a:defRPr sz="1350" b="0">
                <a:solidFill>
                  <a:srgbClr val="E0E7F6"/>
                </a:solidFill>
                <a:latin typeface="Avenir Next"/>
                <a:ea typeface="Avenir Next"/>
                <a:cs typeface="Avenir Next"/>
              </a:defRPr>
            </a:lvl5pPr>
            <a:lvl6pPr>
              <a:defRPr sz="1350" b="0">
                <a:solidFill>
                  <a:srgbClr val="E0E7F6"/>
                </a:solidFill>
                <a:latin typeface="Avenir Next"/>
                <a:ea typeface="Avenir Next"/>
                <a:cs typeface="Avenir Next"/>
              </a:defRPr>
            </a:lvl6pPr>
            <a:lvl7pPr>
              <a:defRPr sz="1350" b="0">
                <a:solidFill>
                  <a:srgbClr val="E0E7F6"/>
                </a:solidFill>
                <a:latin typeface="Avenir Next"/>
                <a:ea typeface="Avenir Next"/>
                <a:cs typeface="Avenir Next"/>
              </a:defRPr>
            </a:lvl7pPr>
            <a:lvl8pPr>
              <a:defRPr sz="1350" b="0">
                <a:solidFill>
                  <a:srgbClr val="E0E7F6"/>
                </a:solidFill>
                <a:latin typeface="Avenir Next"/>
                <a:ea typeface="Avenir Next"/>
                <a:cs typeface="Avenir Next"/>
              </a:defRPr>
            </a:lvl8pPr>
            <a:lvl9pPr>
              <a:defRPr sz="1350" b="0">
                <a:solidFill>
                  <a:srgbClr val="E0E7F6"/>
                </a:solidFill>
                <a:latin typeface="Avenir Next"/>
                <a:ea typeface="Avenir Next"/>
                <a:cs typeface="Avenir Next"/>
              </a:defRPr>
            </a:lvl9pPr>
          </a:lstStyle>
          <a:p xmlns:a="http://schemas.openxmlformats.org/drawingml/2006/main">
            <a:pPr>
              <a:buNone/>
              <a:defRPr sz="1350" b="0">
                <a:solidFill>
                  <a:srgbClr val="E0E7F6"/>
                </a:solidFill>
                <a:latin typeface="Avenir Next"/>
                <a:ea typeface="Avenir Next"/>
                <a:cs typeface="Avenir Next"/>
              </a:defRPr>
            </a:pPr>
            <a:r>
              <a:rPr sz="1350" b="0">
                <a:solidFill>
                  <a:srgbClr val="E0E7F6"/>
                </a:solidFill>
                <a:latin typeface="Avenir Next"/>
                <a:ea typeface="Avenir Next"/>
                <a:cs typeface="Avenir Next"/>
              </a:rPr>
              <a:t>2, 3  A map can feel playful through distinct spaces and small details, not constant saturated color.</a:t>
            </a:r>
          </a:p>
        </p:txBody>
      </p:sp>
      <p:sp>
        <p:nvSpPr>
          <p:cNvPr id="17" name="">
            <a:extLst xmlns:a="http://schemas.openxmlformats.org/drawingml/2006/main">
              <a:ext uri="{FF2B5EF4-FFF2-40B4-BE49-F238E27FC236}">
                <a16:creationId xmlns:a16="http://schemas.microsoft.com/office/drawing/2014/main" id="{47D7BDEB-DB42-4760-A0BD-4B3052ED0E47}"/>
              </a:ext>
            </a:extLst>
          </p:cNvPr>
          <p:cNvSpPr>
            <a:spLocks xmlns:a="http://schemas.openxmlformats.org/drawingml/2006/main" noGrp="1"/>
          </p:cNvSpPr>
          <p:nvPr/>
        </p:nvSpPr>
        <p:spPr>
          <a:xfrm xmlns:a="http://schemas.openxmlformats.org/drawingml/2006/main">
            <a:off x="9248775" y="3943350"/>
            <a:ext cx="24288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0E7F6"/>
                </a:solidFill>
                <a:latin typeface="Avenir Next"/>
                <a:ea typeface="Avenir Next"/>
                <a:cs typeface="Avenir Next"/>
              </a:defRPr>
            </a:defPPr>
            <a:lvl1pPr>
              <a:defRPr sz="1350" b="0">
                <a:solidFill>
                  <a:srgbClr val="E0E7F6"/>
                </a:solidFill>
                <a:latin typeface="Avenir Next"/>
                <a:ea typeface="Avenir Next"/>
                <a:cs typeface="Avenir Next"/>
              </a:defRPr>
            </a:lvl1pPr>
            <a:lvl2pPr>
              <a:defRPr sz="1350" b="0">
                <a:solidFill>
                  <a:srgbClr val="E0E7F6"/>
                </a:solidFill>
                <a:latin typeface="Avenir Next"/>
                <a:ea typeface="Avenir Next"/>
                <a:cs typeface="Avenir Next"/>
              </a:defRPr>
            </a:lvl2pPr>
            <a:lvl3pPr>
              <a:defRPr sz="1350" b="0">
                <a:solidFill>
                  <a:srgbClr val="E0E7F6"/>
                </a:solidFill>
                <a:latin typeface="Avenir Next"/>
                <a:ea typeface="Avenir Next"/>
                <a:cs typeface="Avenir Next"/>
              </a:defRPr>
            </a:lvl3pPr>
            <a:lvl4pPr>
              <a:defRPr sz="1350" b="0">
                <a:solidFill>
                  <a:srgbClr val="E0E7F6"/>
                </a:solidFill>
                <a:latin typeface="Avenir Next"/>
                <a:ea typeface="Avenir Next"/>
                <a:cs typeface="Avenir Next"/>
              </a:defRPr>
            </a:lvl4pPr>
            <a:lvl5pPr>
              <a:defRPr sz="1350" b="0">
                <a:solidFill>
                  <a:srgbClr val="E0E7F6"/>
                </a:solidFill>
                <a:latin typeface="Avenir Next"/>
                <a:ea typeface="Avenir Next"/>
                <a:cs typeface="Avenir Next"/>
              </a:defRPr>
            </a:lvl5pPr>
            <a:lvl6pPr>
              <a:defRPr sz="1350" b="0">
                <a:solidFill>
                  <a:srgbClr val="E0E7F6"/>
                </a:solidFill>
                <a:latin typeface="Avenir Next"/>
                <a:ea typeface="Avenir Next"/>
                <a:cs typeface="Avenir Next"/>
              </a:defRPr>
            </a:lvl6pPr>
            <a:lvl7pPr>
              <a:defRPr sz="1350" b="0">
                <a:solidFill>
                  <a:srgbClr val="E0E7F6"/>
                </a:solidFill>
                <a:latin typeface="Avenir Next"/>
                <a:ea typeface="Avenir Next"/>
                <a:cs typeface="Avenir Next"/>
              </a:defRPr>
            </a:lvl7pPr>
            <a:lvl8pPr>
              <a:defRPr sz="1350" b="0">
                <a:solidFill>
                  <a:srgbClr val="E0E7F6"/>
                </a:solidFill>
                <a:latin typeface="Avenir Next"/>
                <a:ea typeface="Avenir Next"/>
                <a:cs typeface="Avenir Next"/>
              </a:defRPr>
            </a:lvl8pPr>
            <a:lvl9pPr>
              <a:defRPr sz="1350" b="0">
                <a:solidFill>
                  <a:srgbClr val="E0E7F6"/>
                </a:solidFill>
                <a:latin typeface="Avenir Next"/>
                <a:ea typeface="Avenir Next"/>
                <a:cs typeface="Avenir Next"/>
              </a:defRPr>
            </a:lvl9pPr>
          </a:lstStyle>
          <a:p xmlns:a="http://schemas.openxmlformats.org/drawingml/2006/main">
            <a:pPr>
              <a:buNone/>
              <a:defRPr sz="1350" b="0">
                <a:solidFill>
                  <a:srgbClr val="E0E7F6"/>
                </a:solidFill>
                <a:latin typeface="Avenir Next"/>
                <a:ea typeface="Avenir Next"/>
                <a:cs typeface="Avenir Next"/>
              </a:defRPr>
            </a:pPr>
            <a:r>
              <a:rPr sz="1350" b="0">
                <a:solidFill>
                  <a:srgbClr val="E0E7F6"/>
                </a:solidFill>
                <a:latin typeface="Avenir Next"/>
                <a:ea typeface="Avenir Next"/>
                <a:cs typeface="Avenir Next"/>
              </a:rPr>
              <a:t>5  Bright accents feel lively against deep blue, while white type remains easy to spot.</a:t>
            </a:r>
          </a:p>
        </p:txBody>
      </p:sp>
      <p:sp>
        <p:nvSpPr>
          <p:cNvPr id="18" name="">
            <a:extLst xmlns:a="http://schemas.openxmlformats.org/drawingml/2006/main">
              <a:ext uri="{FF2B5EF4-FFF2-40B4-BE49-F238E27FC236}">
                <a16:creationId xmlns:a16="http://schemas.microsoft.com/office/drawing/2014/main" id="{234DA067-6B5D-4E96-9F81-11E842303ABC}"/>
              </a:ext>
            </a:extLst>
          </p:cNvPr>
          <p:cNvSpPr>
            <a:spLocks xmlns:a="http://schemas.openxmlformats.org/drawingml/2006/main" noGrp="1"/>
          </p:cNvSpPr>
          <p:nvPr/>
        </p:nvSpPr>
        <p:spPr>
          <a:xfrm xmlns:a="http://schemas.openxmlformats.org/drawingml/2006/main">
            <a:off x="9248775" y="5000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FFFFF"/>
                </a:solidFill>
                <a:latin typeface="Avenir Next"/>
                <a:ea typeface="Avenir Next"/>
                <a:cs typeface="Avenir Next"/>
              </a:defRPr>
            </a:defPPr>
            <a:lvl1pPr>
              <a:defRPr sz="1275" b="1">
                <a:solidFill>
                  <a:srgbClr val="FFFFFF"/>
                </a:solidFill>
                <a:latin typeface="Avenir Next"/>
                <a:ea typeface="Avenir Next"/>
                <a:cs typeface="Avenir Next"/>
              </a:defRPr>
            </a:lvl1pPr>
            <a:lvl2pPr>
              <a:defRPr sz="1275" b="1">
                <a:solidFill>
                  <a:srgbClr val="FFFFFF"/>
                </a:solidFill>
                <a:latin typeface="Avenir Next"/>
                <a:ea typeface="Avenir Next"/>
                <a:cs typeface="Avenir Next"/>
              </a:defRPr>
            </a:lvl2pPr>
            <a:lvl3pPr>
              <a:defRPr sz="1275" b="1">
                <a:solidFill>
                  <a:srgbClr val="FFFFFF"/>
                </a:solidFill>
                <a:latin typeface="Avenir Next"/>
                <a:ea typeface="Avenir Next"/>
                <a:cs typeface="Avenir Next"/>
              </a:defRPr>
            </a:lvl3pPr>
            <a:lvl4pPr>
              <a:defRPr sz="1275" b="1">
                <a:solidFill>
                  <a:srgbClr val="FFFFFF"/>
                </a:solidFill>
                <a:latin typeface="Avenir Next"/>
                <a:ea typeface="Avenir Next"/>
                <a:cs typeface="Avenir Next"/>
              </a:defRPr>
            </a:lvl4pPr>
            <a:lvl5pPr>
              <a:defRPr sz="1275" b="1">
                <a:solidFill>
                  <a:srgbClr val="FFFFFF"/>
                </a:solidFill>
                <a:latin typeface="Avenir Next"/>
                <a:ea typeface="Avenir Next"/>
                <a:cs typeface="Avenir Next"/>
              </a:defRPr>
            </a:lvl5pPr>
            <a:lvl6pPr>
              <a:defRPr sz="1275" b="1">
                <a:solidFill>
                  <a:srgbClr val="FFFFFF"/>
                </a:solidFill>
                <a:latin typeface="Avenir Next"/>
                <a:ea typeface="Avenir Next"/>
                <a:cs typeface="Avenir Next"/>
              </a:defRPr>
            </a:lvl6pPr>
            <a:lvl7pPr>
              <a:defRPr sz="1275" b="1">
                <a:solidFill>
                  <a:srgbClr val="FFFFFF"/>
                </a:solidFill>
                <a:latin typeface="Avenir Next"/>
                <a:ea typeface="Avenir Next"/>
                <a:cs typeface="Avenir Next"/>
              </a:defRPr>
            </a:lvl7pPr>
            <a:lvl8pPr>
              <a:defRPr sz="1275" b="1">
                <a:solidFill>
                  <a:srgbClr val="FFFFFF"/>
                </a:solidFill>
                <a:latin typeface="Avenir Next"/>
                <a:ea typeface="Avenir Next"/>
                <a:cs typeface="Avenir Next"/>
              </a:defRPr>
            </a:lvl8pPr>
            <a:lvl9pPr>
              <a:defRPr sz="1275" b="1">
                <a:solidFill>
                  <a:srgbClr val="FFFFFF"/>
                </a:solidFill>
                <a:latin typeface="Avenir Next"/>
                <a:ea typeface="Avenir Next"/>
                <a:cs typeface="Avenir Next"/>
              </a:defRPr>
            </a:lvl9pPr>
          </a:lstStyle>
          <a:p xmlns:a="http://schemas.openxmlformats.org/drawingml/2006/main">
            <a:pPr>
              <a:buNone/>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USED IN ROAM</a:t>
            </a:r>
          </a:p>
        </p:txBody>
      </p:sp>
      <p:sp>
        <p:nvSpPr>
          <p:cNvPr id="19" name="">
            <a:extLst xmlns:a="http://schemas.openxmlformats.org/drawingml/2006/main">
              <a:ext uri="{FF2B5EF4-FFF2-40B4-BE49-F238E27FC236}">
                <a16:creationId xmlns:a16="http://schemas.microsoft.com/office/drawing/2014/main" id="{8D72EF92-C3E5-474F-B708-11FF1E4B98A6}"/>
              </a:ext>
            </a:extLst>
          </p:cNvPr>
          <p:cNvSpPr>
            <a:spLocks xmlns:a="http://schemas.openxmlformats.org/drawingml/2006/main" noGrp="1"/>
          </p:cNvSpPr>
          <p:nvPr/>
        </p:nvSpPr>
        <p:spPr>
          <a:xfrm xmlns:a="http://schemas.openxmlformats.org/drawingml/2006/main">
            <a:off x="9248775" y="5343525"/>
            <a:ext cx="24288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BDD2F5"/>
                </a:solidFill>
                <a:latin typeface="Avenir Next"/>
                <a:ea typeface="Avenir Next"/>
                <a:cs typeface="Avenir Next"/>
              </a:defRPr>
            </a:defPPr>
            <a:lvl1pPr>
              <a:defRPr sz="1275" b="0">
                <a:solidFill>
                  <a:srgbClr val="BDD2F5"/>
                </a:solidFill>
                <a:latin typeface="Avenir Next"/>
                <a:ea typeface="Avenir Next"/>
                <a:cs typeface="Avenir Next"/>
              </a:defRPr>
            </a:lvl1pPr>
            <a:lvl2pPr>
              <a:defRPr sz="1275" b="0">
                <a:solidFill>
                  <a:srgbClr val="BDD2F5"/>
                </a:solidFill>
                <a:latin typeface="Avenir Next"/>
                <a:ea typeface="Avenir Next"/>
                <a:cs typeface="Avenir Next"/>
              </a:defRPr>
            </a:lvl2pPr>
            <a:lvl3pPr>
              <a:defRPr sz="1275" b="0">
                <a:solidFill>
                  <a:srgbClr val="BDD2F5"/>
                </a:solidFill>
                <a:latin typeface="Avenir Next"/>
                <a:ea typeface="Avenir Next"/>
                <a:cs typeface="Avenir Next"/>
              </a:defRPr>
            </a:lvl3pPr>
            <a:lvl4pPr>
              <a:defRPr sz="1275" b="0">
                <a:solidFill>
                  <a:srgbClr val="BDD2F5"/>
                </a:solidFill>
                <a:latin typeface="Avenir Next"/>
                <a:ea typeface="Avenir Next"/>
                <a:cs typeface="Avenir Next"/>
              </a:defRPr>
            </a:lvl4pPr>
            <a:lvl5pPr>
              <a:defRPr sz="1275" b="0">
                <a:solidFill>
                  <a:srgbClr val="BDD2F5"/>
                </a:solidFill>
                <a:latin typeface="Avenir Next"/>
                <a:ea typeface="Avenir Next"/>
                <a:cs typeface="Avenir Next"/>
              </a:defRPr>
            </a:lvl5pPr>
            <a:lvl6pPr>
              <a:defRPr sz="1275" b="0">
                <a:solidFill>
                  <a:srgbClr val="BDD2F5"/>
                </a:solidFill>
                <a:latin typeface="Avenir Next"/>
                <a:ea typeface="Avenir Next"/>
                <a:cs typeface="Avenir Next"/>
              </a:defRPr>
            </a:lvl6pPr>
            <a:lvl7pPr>
              <a:defRPr sz="1275" b="0">
                <a:solidFill>
                  <a:srgbClr val="BDD2F5"/>
                </a:solidFill>
                <a:latin typeface="Avenir Next"/>
                <a:ea typeface="Avenir Next"/>
                <a:cs typeface="Avenir Next"/>
              </a:defRPr>
            </a:lvl7pPr>
            <a:lvl8pPr>
              <a:defRPr sz="1275" b="0">
                <a:solidFill>
                  <a:srgbClr val="BDD2F5"/>
                </a:solidFill>
                <a:latin typeface="Avenir Next"/>
                <a:ea typeface="Avenir Next"/>
                <a:cs typeface="Avenir Next"/>
              </a:defRPr>
            </a:lvl8pPr>
            <a:lvl9pPr>
              <a:defRPr sz="1275" b="0">
                <a:solidFill>
                  <a:srgbClr val="BDD2F5"/>
                </a:solidFill>
                <a:latin typeface="Avenir Next"/>
                <a:ea typeface="Avenir Next"/>
                <a:cs typeface="Avenir Next"/>
              </a:defRPr>
            </a:lvl9pPr>
          </a:lstStyle>
          <a:p xmlns:a="http://schemas.openxmlformats.org/drawingml/2006/main">
            <a:pPr>
              <a:buNone/>
              <a:defRPr sz="1275" b="0">
                <a:solidFill>
                  <a:srgbClr val="BDD2F5"/>
                </a:solidFill>
                <a:latin typeface="Avenir Next"/>
                <a:ea typeface="Avenir Next"/>
                <a:cs typeface="Avenir Next"/>
              </a:defRPr>
            </a:pPr>
            <a:r>
              <a:rPr sz="1275" b="0">
                <a:solidFill>
                  <a:srgbClr val="BDD2F5"/>
                </a:solidFill>
                <a:latin typeface="Avenir Next"/>
                <a:ea typeface="Avenir Next"/>
                <a:cs typeface="Avenir Next"/>
              </a:rPr>
              <a:t>Night blue backdrop</a:t>
            </a:r>
          </a:p>
          <a:p xmlns:a="http://schemas.openxmlformats.org/drawingml/2006/main">
            <a:pPr>
              <a:buNone/>
              <a:defRPr sz="1275" b="0">
                <a:solidFill>
                  <a:srgbClr val="BDD2F5"/>
                </a:solidFill>
                <a:latin typeface="Avenir Next"/>
                <a:ea typeface="Avenir Next"/>
                <a:cs typeface="Avenir Next"/>
              </a:defRPr>
            </a:pPr>
            <a:r>
              <a:rPr sz="1275" b="0">
                <a:solidFill>
                  <a:srgbClr val="BDD2F5"/>
                </a:solidFill>
                <a:latin typeface="Avenir Next"/>
                <a:ea typeface="Avenir Next"/>
                <a:cs typeface="Avenir Next"/>
              </a:rPr>
              <a:t>White and soft blue panels</a:t>
            </a:r>
          </a:p>
          <a:p xmlns:a="http://schemas.openxmlformats.org/drawingml/2006/main">
            <a:pPr>
              <a:buNone/>
              <a:defRPr sz="1275" b="0">
                <a:solidFill>
                  <a:srgbClr val="BDD2F5"/>
                </a:solidFill>
                <a:latin typeface="Avenir Next"/>
                <a:ea typeface="Avenir Next"/>
                <a:cs typeface="Avenir Next"/>
              </a:defRPr>
            </a:pPr>
            <a:r>
              <a:rPr sz="1275" b="0">
                <a:solidFill>
                  <a:srgbClr val="BDD2F5"/>
                </a:solidFill>
                <a:latin typeface="Avenir Next"/>
                <a:ea typeface="Avenir Next"/>
                <a:cs typeface="Avenir Next"/>
              </a:rPr>
              <a:t>Violet primary action</a:t>
            </a:r>
          </a:p>
          <a:p xmlns:a="http://schemas.openxmlformats.org/drawingml/2006/main">
            <a:pPr>
              <a:buNone/>
              <a:defRPr sz="1275" b="0">
                <a:solidFill>
                  <a:srgbClr val="BDD2F5"/>
                </a:solidFill>
                <a:latin typeface="Avenir Next"/>
                <a:ea typeface="Avenir Next"/>
                <a:cs typeface="Avenir Next"/>
              </a:defRPr>
            </a:pPr>
            <a:r>
              <a:rPr sz="1275" b="0">
                <a:solidFill>
                  <a:srgbClr val="BDD2F5"/>
                </a:solidFill>
                <a:latin typeface="Avenir Next"/>
                <a:ea typeface="Avenir Next"/>
                <a:cs typeface="Avenir Next"/>
              </a:rPr>
              <a:t>Small warm map accents</a:t>
            </a:r>
          </a:p>
        </p:txBody>
      </p:sp>
      <p:cxnSp>
        <p:nvCxnSpPr>
          <p:cNvPr id="21" name="">
            <a:extLst xmlns:a="http://schemas.openxmlformats.org/drawingml/2006/main">
              <a:ext uri="{FF2B5EF4-FFF2-40B4-BE49-F238E27FC236}">
                <a16:creationId xmlns:a16="http://schemas.microsoft.com/office/drawing/2014/main" id="{4D55155E-2659-4A90-81B1-F1E17B5285D1}"/>
              </a:ext>
            </a:extLst>
          </p:cNvPr>
          <p:cNvCxnSpPr/>
          <p:nvPr/>
        </p:nvCxnSpPr>
        <p:spPr>
          <a:xfrm xmlns:a="http://schemas.openxmlformats.org/drawingml/2006/main">
            <a:off x="1714500" y="1828800"/>
            <a:ext cx="0" cy="314325"/>
          </a:xfrm>
          <a:prstGeom xmlns:a="http://schemas.openxmlformats.org/drawingml/2006/main" prst="straightConnector1">
            <a:avLst/>
          </a:prstGeom>
          <a:ln xmlns:a="http://schemas.openxmlformats.org/drawingml/2006/main" w="23813">
            <a:solidFill>
              <a:srgbClr val="75DCCB"/>
            </a:solidFill>
            <a:prstDash val="solid"/>
            <a:tailEnd type="triangle" w="sm" len="sm"/>
          </a:ln>
        </p:spPr>
      </p:cxnSp>
      <p:sp>
        <p:nvSpPr>
          <p:cNvPr id="22" name="">
            <a:extLst xmlns:a="http://schemas.openxmlformats.org/drawingml/2006/main">
              <a:ext uri="{FF2B5EF4-FFF2-40B4-BE49-F238E27FC236}">
                <a16:creationId xmlns:a16="http://schemas.microsoft.com/office/drawing/2014/main" id="{0A48372F-2A55-4D3B-B6EF-43EBC2BAB809}"/>
              </a:ext>
            </a:extLst>
          </p:cNvPr>
          <p:cNvSpPr>
            <a:spLocks xmlns:a="http://schemas.openxmlformats.org/drawingml/2006/main" noGrp="1"/>
          </p:cNvSpPr>
          <p:nvPr/>
        </p:nvSpPr>
        <p:spPr>
          <a:xfrm xmlns:a="http://schemas.openxmlformats.org/drawingml/2006/main">
            <a:off x="533400" y="1371600"/>
            <a:ext cx="2343150" cy="457200"/>
          </a:xfrm>
          <a:prstGeom xmlns:a="http://schemas.openxmlformats.org/drawingml/2006/main" prst="roundRect">
            <a:avLst>
              <a:gd name="adj" fmla="val 14583"/>
            </a:avLst>
          </a:prstGeom>
          <a:solidFill xmlns:a="http://schemas.openxmlformats.org/drawingml/2006/main">
            <a:srgbClr val="FFFDF8"/>
          </a:solidFill>
          <a:ln xmlns:a="http://schemas.openxmlformats.org/drawingml/2006/main" w="15240">
            <a:solidFill>
              <a:srgbClr val="75DCCB"/>
            </a:solidFill>
            <a:prstDash val="solid"/>
          </a:ln>
        </p:spPr>
        <p:txBody>
          <a:bodyPr xmlns:a="http://schemas.openxmlformats.org/drawingml/2006/main" lIns="76200" tIns="28575" rIns="76200" bIns="28575" anchor="ctr"/>
          <a:lstStyle xmlns:a="http://schemas.openxmlformats.org/drawingml/2006/main">
            <a:defPPr algn="ctr">
              <a:defRPr sz="1050" b="1">
                <a:solidFill>
                  <a:srgbClr val="182341"/>
                </a:solidFill>
                <a:latin typeface="Avenir Next"/>
                <a:ea typeface="Avenir Next"/>
                <a:cs typeface="Avenir Next"/>
              </a:defRPr>
            </a:defPPr>
            <a:lvl1pPr algn="ctr">
              <a:defRPr sz="1050" b="1">
                <a:solidFill>
                  <a:srgbClr val="182341"/>
                </a:solidFill>
                <a:latin typeface="Avenir Next"/>
                <a:ea typeface="Avenir Next"/>
                <a:cs typeface="Avenir Next"/>
              </a:defRPr>
            </a:lvl1pPr>
            <a:lvl2pPr algn="ctr">
              <a:defRPr sz="1050" b="1">
                <a:solidFill>
                  <a:srgbClr val="182341"/>
                </a:solidFill>
                <a:latin typeface="Avenir Next"/>
                <a:ea typeface="Avenir Next"/>
                <a:cs typeface="Avenir Next"/>
              </a:defRPr>
            </a:lvl2pPr>
            <a:lvl3pPr algn="ctr">
              <a:defRPr sz="1050" b="1">
                <a:solidFill>
                  <a:srgbClr val="182341"/>
                </a:solidFill>
                <a:latin typeface="Avenir Next"/>
                <a:ea typeface="Avenir Next"/>
                <a:cs typeface="Avenir Next"/>
              </a:defRPr>
            </a:lvl3pPr>
            <a:lvl4pPr algn="ctr">
              <a:defRPr sz="1050" b="1">
                <a:solidFill>
                  <a:srgbClr val="182341"/>
                </a:solidFill>
                <a:latin typeface="Avenir Next"/>
                <a:ea typeface="Avenir Next"/>
                <a:cs typeface="Avenir Next"/>
              </a:defRPr>
            </a:lvl4pPr>
            <a:lvl5pPr algn="ctr">
              <a:defRPr sz="1050" b="1">
                <a:solidFill>
                  <a:srgbClr val="182341"/>
                </a:solidFill>
                <a:latin typeface="Avenir Next"/>
                <a:ea typeface="Avenir Next"/>
                <a:cs typeface="Avenir Next"/>
              </a:defRPr>
            </a:lvl5pPr>
            <a:lvl6pPr algn="ctr">
              <a:defRPr sz="1050" b="1">
                <a:solidFill>
                  <a:srgbClr val="182341"/>
                </a:solidFill>
                <a:latin typeface="Avenir Next"/>
                <a:ea typeface="Avenir Next"/>
                <a:cs typeface="Avenir Next"/>
              </a:defRPr>
            </a:lvl6pPr>
            <a:lvl7pPr algn="ctr">
              <a:defRPr sz="1050" b="1">
                <a:solidFill>
                  <a:srgbClr val="182341"/>
                </a:solidFill>
                <a:latin typeface="Avenir Next"/>
                <a:ea typeface="Avenir Next"/>
                <a:cs typeface="Avenir Next"/>
              </a:defRPr>
            </a:lvl7pPr>
            <a:lvl8pPr algn="ctr">
              <a:defRPr sz="1050" b="1">
                <a:solidFill>
                  <a:srgbClr val="182341"/>
                </a:solidFill>
                <a:latin typeface="Avenir Next"/>
                <a:ea typeface="Avenir Next"/>
                <a:cs typeface="Avenir Next"/>
              </a:defRPr>
            </a:lvl8pPr>
            <a:lvl9pPr algn="ctr">
              <a:defRPr sz="1050" b="1">
                <a:solidFill>
                  <a:srgbClr val="182341"/>
                </a:solidFill>
                <a:latin typeface="Avenir Next"/>
                <a:ea typeface="Avenir Next"/>
                <a:cs typeface="Avenir Next"/>
              </a:defRPr>
            </a:lvl9pPr>
          </a:lstStyle>
          <a:p xmlns:a="http://schemas.openxmlformats.org/drawingml/2006/main">
            <a:pPr algn="ctr">
              <a:defRPr sz="1050" b="1">
                <a:solidFill>
                  <a:srgbClr val="182341"/>
                </a:solidFill>
                <a:latin typeface="Avenir Next"/>
                <a:ea typeface="Avenir Next"/>
                <a:cs typeface="Avenir Next"/>
              </a:defRPr>
            </a:pPr>
            <a:r>
              <a:rPr sz="1050" b="1">
                <a:solidFill>
                  <a:srgbClr val="182341"/>
                </a:solidFill>
                <a:latin typeface="Avenir Next"/>
                <a:ea typeface="Avenir Next"/>
                <a:cs typeface="Avenir Next"/>
              </a:rPr>
              <a:t>Roam: night blue + white card make entry easy to spot.</a:t>
            </a:r>
          </a:p>
        </p:txBody>
      </p:sp>
      <p:cxnSp>
        <p:nvCxnSpPr>
          <p:cNvPr id="23" name="">
            <a:extLst xmlns:a="http://schemas.openxmlformats.org/drawingml/2006/main">
              <a:ext uri="{FF2B5EF4-FFF2-40B4-BE49-F238E27FC236}">
                <a16:creationId xmlns:a16="http://schemas.microsoft.com/office/drawing/2014/main" id="{76C8CF92-4730-45DF-8B74-1CD7BD2CF019}"/>
              </a:ext>
            </a:extLst>
          </p:cNvPr>
          <p:cNvCxnSpPr/>
          <p:nvPr/>
        </p:nvCxnSpPr>
        <p:spPr>
          <a:xfrm xmlns:a="http://schemas.openxmlformats.org/drawingml/2006/main">
            <a:off x="7448550" y="2276475"/>
            <a:ext cx="0" cy="447675"/>
          </a:xfrm>
          <a:prstGeom xmlns:a="http://schemas.openxmlformats.org/drawingml/2006/main" prst="straightConnector1">
            <a:avLst/>
          </a:prstGeom>
          <a:ln xmlns:a="http://schemas.openxmlformats.org/drawingml/2006/main" w="23813">
            <a:solidFill>
              <a:srgbClr val="75DCCB"/>
            </a:solidFill>
            <a:prstDash val="solid"/>
            <a:headEnd type="triangle" w="sm" len="sm"/>
          </a:ln>
        </p:spPr>
      </p:cxnSp>
      <p:sp>
        <p:nvSpPr>
          <p:cNvPr id="24" name="">
            <a:extLst xmlns:a="http://schemas.openxmlformats.org/drawingml/2006/main">
              <a:ext uri="{FF2B5EF4-FFF2-40B4-BE49-F238E27FC236}">
                <a16:creationId xmlns:a16="http://schemas.microsoft.com/office/drawing/2014/main" id="{D29AB723-C429-48B7-8CF8-D9283BBAA3EB}"/>
              </a:ext>
            </a:extLst>
          </p:cNvPr>
          <p:cNvSpPr>
            <a:spLocks xmlns:a="http://schemas.openxmlformats.org/drawingml/2006/main" noGrp="1"/>
          </p:cNvSpPr>
          <p:nvPr/>
        </p:nvSpPr>
        <p:spPr>
          <a:xfrm xmlns:a="http://schemas.openxmlformats.org/drawingml/2006/main">
            <a:off x="6143625" y="2724150"/>
            <a:ext cx="2628900" cy="571500"/>
          </a:xfrm>
          <a:prstGeom xmlns:a="http://schemas.openxmlformats.org/drawingml/2006/main" prst="roundRect">
            <a:avLst>
              <a:gd name="adj" fmla="val 11667"/>
            </a:avLst>
          </a:prstGeom>
          <a:solidFill xmlns:a="http://schemas.openxmlformats.org/drawingml/2006/main">
            <a:srgbClr val="FFFDF8"/>
          </a:solidFill>
          <a:ln xmlns:a="http://schemas.openxmlformats.org/drawingml/2006/main" w="15240">
            <a:solidFill>
              <a:srgbClr val="75DCCB"/>
            </a:solidFill>
            <a:prstDash val="solid"/>
          </a:ln>
        </p:spPr>
        <p:txBody>
          <a:bodyPr xmlns:a="http://schemas.openxmlformats.org/drawingml/2006/main" lIns="76200" tIns="28575" rIns="76200" bIns="28575" anchor="ctr"/>
          <a:lstStyle xmlns:a="http://schemas.openxmlformats.org/drawingml/2006/main">
            <a:defPPr algn="ctr">
              <a:defRPr sz="1050" b="1">
                <a:solidFill>
                  <a:srgbClr val="182341"/>
                </a:solidFill>
                <a:latin typeface="Avenir Next"/>
                <a:ea typeface="Avenir Next"/>
                <a:cs typeface="Avenir Next"/>
              </a:defRPr>
            </a:defPPr>
            <a:lvl1pPr algn="ctr">
              <a:defRPr sz="1050" b="1">
                <a:solidFill>
                  <a:srgbClr val="182341"/>
                </a:solidFill>
                <a:latin typeface="Avenir Next"/>
                <a:ea typeface="Avenir Next"/>
                <a:cs typeface="Avenir Next"/>
              </a:defRPr>
            </a:lvl1pPr>
            <a:lvl2pPr algn="ctr">
              <a:defRPr sz="1050" b="1">
                <a:solidFill>
                  <a:srgbClr val="182341"/>
                </a:solidFill>
                <a:latin typeface="Avenir Next"/>
                <a:ea typeface="Avenir Next"/>
                <a:cs typeface="Avenir Next"/>
              </a:defRPr>
            </a:lvl2pPr>
            <a:lvl3pPr algn="ctr">
              <a:defRPr sz="1050" b="1">
                <a:solidFill>
                  <a:srgbClr val="182341"/>
                </a:solidFill>
                <a:latin typeface="Avenir Next"/>
                <a:ea typeface="Avenir Next"/>
                <a:cs typeface="Avenir Next"/>
              </a:defRPr>
            </a:lvl3pPr>
            <a:lvl4pPr algn="ctr">
              <a:defRPr sz="1050" b="1">
                <a:solidFill>
                  <a:srgbClr val="182341"/>
                </a:solidFill>
                <a:latin typeface="Avenir Next"/>
                <a:ea typeface="Avenir Next"/>
                <a:cs typeface="Avenir Next"/>
              </a:defRPr>
            </a:lvl4pPr>
            <a:lvl5pPr algn="ctr">
              <a:defRPr sz="1050" b="1">
                <a:solidFill>
                  <a:srgbClr val="182341"/>
                </a:solidFill>
                <a:latin typeface="Avenir Next"/>
                <a:ea typeface="Avenir Next"/>
                <a:cs typeface="Avenir Next"/>
              </a:defRPr>
            </a:lvl5pPr>
            <a:lvl6pPr algn="ctr">
              <a:defRPr sz="1050" b="1">
                <a:solidFill>
                  <a:srgbClr val="182341"/>
                </a:solidFill>
                <a:latin typeface="Avenir Next"/>
                <a:ea typeface="Avenir Next"/>
                <a:cs typeface="Avenir Next"/>
              </a:defRPr>
            </a:lvl6pPr>
            <a:lvl7pPr algn="ctr">
              <a:defRPr sz="1050" b="1">
                <a:solidFill>
                  <a:srgbClr val="182341"/>
                </a:solidFill>
                <a:latin typeface="Avenir Next"/>
                <a:ea typeface="Avenir Next"/>
                <a:cs typeface="Avenir Next"/>
              </a:defRPr>
            </a:lvl7pPr>
            <a:lvl8pPr algn="ctr">
              <a:defRPr sz="1050" b="1">
                <a:solidFill>
                  <a:srgbClr val="182341"/>
                </a:solidFill>
                <a:latin typeface="Avenir Next"/>
                <a:ea typeface="Avenir Next"/>
                <a:cs typeface="Avenir Next"/>
              </a:defRPr>
            </a:lvl8pPr>
            <a:lvl9pPr algn="ctr">
              <a:defRPr sz="1050" b="1">
                <a:solidFill>
                  <a:srgbClr val="182341"/>
                </a:solidFill>
                <a:latin typeface="Avenir Next"/>
                <a:ea typeface="Avenir Next"/>
                <a:cs typeface="Avenir Next"/>
              </a:defRPr>
            </a:lvl9pPr>
          </a:lstStyle>
          <a:p xmlns:a="http://schemas.openxmlformats.org/drawingml/2006/main">
            <a:pPr algn="ctr">
              <a:defRPr sz="1050" b="1">
                <a:solidFill>
                  <a:srgbClr val="182341"/>
                </a:solidFill>
                <a:latin typeface="Avenir Next"/>
                <a:ea typeface="Avenir Next"/>
                <a:cs typeface="Avenir Next"/>
              </a:defRPr>
            </a:pPr>
            <a:r>
              <a:rPr sz="1050" b="1">
                <a:solidFill>
                  <a:srgbClr val="182341"/>
                </a:solidFill>
                <a:latin typeface="Avenir Next"/>
                <a:ea typeface="Avenir Next"/>
                <a:cs typeface="Avenir Next"/>
              </a:rPr>
              <a:t>Roam: indoor tiles + furniture make booths feel like places.</a:t>
            </a:r>
          </a:p>
        </p:txBody>
      </p:sp>
    </p:spTree>
    <p:extLst>
      <p:ext uri="{BB962C8B-B14F-4D97-AF65-F5344CB8AC3E}">
        <p14:creationId xmlns:p14="http://schemas.microsoft.com/office/powerpoint/2010/main" val="738459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2026-10-20T03:41:54.4090000Z</dcterms:created>
  <dcterms:modified xsi:type="dcterms:W3CDTF">2026-10-20T03:41:54.4090000Z</dcterms:modified>
</coreProperties>
</file>